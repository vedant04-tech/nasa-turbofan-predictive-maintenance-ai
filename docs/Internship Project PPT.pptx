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30"/>
  </p:notesMasterIdLst>
  <p:sldIdLst>
    <p:sldId id="256" r:id="rId2"/>
    <p:sldId id="257" r:id="rId3"/>
    <p:sldId id="258" r:id="rId4"/>
    <p:sldId id="266" r:id="rId5"/>
    <p:sldId id="267" r:id="rId6"/>
    <p:sldId id="268" r:id="rId7"/>
    <p:sldId id="261" r:id="rId8"/>
    <p:sldId id="269" r:id="rId9"/>
    <p:sldId id="270" r:id="rId10"/>
    <p:sldId id="271" r:id="rId11"/>
    <p:sldId id="272" r:id="rId12"/>
    <p:sldId id="275" r:id="rId13"/>
    <p:sldId id="273" r:id="rId14"/>
    <p:sldId id="274" r:id="rId15"/>
    <p:sldId id="276" r:id="rId16"/>
    <p:sldId id="278" r:id="rId17"/>
    <p:sldId id="279" r:id="rId18"/>
    <p:sldId id="280" r:id="rId19"/>
    <p:sldId id="281" r:id="rId20"/>
    <p:sldId id="277" r:id="rId21"/>
    <p:sldId id="285" r:id="rId22"/>
    <p:sldId id="288" r:id="rId23"/>
    <p:sldId id="287" r:id="rId24"/>
    <p:sldId id="286" r:id="rId25"/>
    <p:sldId id="282" r:id="rId26"/>
    <p:sldId id="283" r:id="rId27"/>
    <p:sldId id="284" r:id="rId28"/>
    <p:sldId id="265" r:id="rId29"/>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6ABA124B-7B75-48D1-8A45-E309EF4CAEC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76" autoAdjust="0"/>
    <p:restoredTop sz="94660"/>
  </p:normalViewPr>
  <p:slideViewPr>
    <p:cSldViewPr snapToGrid="0">
      <p:cViewPr>
        <p:scale>
          <a:sx n="57" d="100"/>
          <a:sy n="57" d="100"/>
        </p:scale>
        <p:origin x="1386" y="27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 name="Google Shape;45;p1: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3: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6ECC50E-229D-4873-21E5-A6A5A4EC2EFE}"/>
            </a:ext>
          </a:extLst>
        </p:cNvPr>
        <p:cNvGrpSpPr/>
        <p:nvPr/>
      </p:nvGrpSpPr>
      <p:grpSpPr>
        <a:xfrm>
          <a:off x="0" y="0"/>
          <a:ext cx="0" cy="0"/>
          <a:chOff x="0" y="0"/>
          <a:chExt cx="0" cy="0"/>
        </a:xfrm>
      </p:grpSpPr>
      <p:sp>
        <p:nvSpPr>
          <p:cNvPr id="72" name="Google Shape;72;p3:notes">
            <a:extLst>
              <a:ext uri="{FF2B5EF4-FFF2-40B4-BE49-F238E27FC236}">
                <a16:creationId xmlns:a16="http://schemas.microsoft.com/office/drawing/2014/main" id="{54A8CA63-7EEB-4824-78C0-E56D13469A93}"/>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3:notes">
            <a:extLst>
              <a:ext uri="{FF2B5EF4-FFF2-40B4-BE49-F238E27FC236}">
                <a16:creationId xmlns:a16="http://schemas.microsoft.com/office/drawing/2014/main" id="{273119E6-3DB1-C012-021C-F75C5F51465A}"/>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05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1BB87DB-2B66-1037-6D10-D92159A16BC6}"/>
            </a:ext>
          </a:extLst>
        </p:cNvPr>
        <p:cNvGrpSpPr/>
        <p:nvPr/>
      </p:nvGrpSpPr>
      <p:grpSpPr>
        <a:xfrm>
          <a:off x="0" y="0"/>
          <a:ext cx="0" cy="0"/>
          <a:chOff x="0" y="0"/>
          <a:chExt cx="0" cy="0"/>
        </a:xfrm>
      </p:grpSpPr>
      <p:sp>
        <p:nvSpPr>
          <p:cNvPr id="72" name="Google Shape;72;p3:notes">
            <a:extLst>
              <a:ext uri="{FF2B5EF4-FFF2-40B4-BE49-F238E27FC236}">
                <a16:creationId xmlns:a16="http://schemas.microsoft.com/office/drawing/2014/main" id="{5D9FB648-3C96-AC59-B581-C17881AB2365}"/>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3:notes">
            <a:extLst>
              <a:ext uri="{FF2B5EF4-FFF2-40B4-BE49-F238E27FC236}">
                <a16:creationId xmlns:a16="http://schemas.microsoft.com/office/drawing/2014/main" id="{84BDC488-A25F-C093-CBD2-2621EACB719C}"/>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2745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2ED3D37-EC13-5F82-6E15-30CA7BA8C022}"/>
            </a:ext>
          </a:extLst>
        </p:cNvPr>
        <p:cNvGrpSpPr/>
        <p:nvPr/>
      </p:nvGrpSpPr>
      <p:grpSpPr>
        <a:xfrm>
          <a:off x="0" y="0"/>
          <a:ext cx="0" cy="0"/>
          <a:chOff x="0" y="0"/>
          <a:chExt cx="0" cy="0"/>
        </a:xfrm>
      </p:grpSpPr>
      <p:sp>
        <p:nvSpPr>
          <p:cNvPr id="72" name="Google Shape;72;p3:notes">
            <a:extLst>
              <a:ext uri="{FF2B5EF4-FFF2-40B4-BE49-F238E27FC236}">
                <a16:creationId xmlns:a16="http://schemas.microsoft.com/office/drawing/2014/main" id="{E76C3AE5-B9D2-6967-DD95-6BB08B335114}"/>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3:notes">
            <a:extLst>
              <a:ext uri="{FF2B5EF4-FFF2-40B4-BE49-F238E27FC236}">
                <a16:creationId xmlns:a16="http://schemas.microsoft.com/office/drawing/2014/main" id="{8678D3CC-4940-4103-6E23-22CB15796756}"/>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3432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D5FB644-3F1A-B1F4-8037-C5F186182149}"/>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8F8DC095-95F9-09CA-039D-5C78A5CDBDE1}"/>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46D5DB4E-F4F5-4D20-F3C4-4E5FDD77F2BB}"/>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8789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37340CB-3206-D4F4-C97D-4A27BABF72F3}"/>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DE367041-4AAB-CC89-67D9-F4A63D1B09C0}"/>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293A80A5-1854-01C5-DCB3-00841AD9FED0}"/>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8228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6EA972C-0EC4-983F-2C88-FB1F783D705F}"/>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57EB61D6-2B85-0AC9-A5F5-5A94E8D94FFF}"/>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C270FEAE-7D68-5A46-FCF7-6EB14F703BC7}"/>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3817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6115C3-E87C-7B51-C4C1-E2723AAD1F18}"/>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C7D1FAEC-D8C4-6533-6D11-23B13B8672D5}"/>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5564C873-1A52-2A3C-CDC0-D93B926A710A}"/>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3783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9E9FACC-124B-6B19-8AEB-22615298C77F}"/>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DA807793-4737-47A9-9CA4-9C2E59EED892}"/>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13704AF5-E0D9-C2A6-A8CD-6460FAAE443A}"/>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0305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35BFD6B-4A31-CE1A-B8AD-11E113866672}"/>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F2B52D75-FE75-8D0C-9411-97DDEB72AC24}"/>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AA7E3592-48EA-2491-1782-6663EACDF3DF}"/>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49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915450-9CD4-A399-E4E2-DC63CC691ADA}"/>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E242398E-DD2A-A498-B61C-DC44571E527D}"/>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6" name="Google Shape;106;p6:notes">
            <a:extLst>
              <a:ext uri="{FF2B5EF4-FFF2-40B4-BE49-F238E27FC236}">
                <a16:creationId xmlns:a16="http://schemas.microsoft.com/office/drawing/2014/main" id="{63D0A077-0076-7380-490A-F0A70F1A7E46}"/>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777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73DA9FD-12B2-1B66-F29E-03DAAFFAF88D}"/>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E1C3370E-31D0-FEC3-866E-21DAA384D90D}"/>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4C33E330-87F6-0DAC-9084-CEB9D57A580D}"/>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0977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0749F37-4F57-6A63-6440-53C6363B8E31}"/>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35B073BF-3807-919F-7BE1-9642C88D2168}"/>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6" name="Google Shape;106;p6:notes">
            <a:extLst>
              <a:ext uri="{FF2B5EF4-FFF2-40B4-BE49-F238E27FC236}">
                <a16:creationId xmlns:a16="http://schemas.microsoft.com/office/drawing/2014/main" id="{8321C428-7A60-07C8-CBB7-5622B9C2AFB2}"/>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4943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722F592-DDDF-9F69-6890-2AE0096C52A3}"/>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F8C72773-FF6F-F3F3-2787-2D7344C28012}"/>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0253DB1D-A973-24FA-490E-630439E25EA2}"/>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75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000A9B7-896C-78A1-04F7-49DCBA930B2D}"/>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3F5D5E20-5EC2-AA41-809A-E64F6148F3A5}"/>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CEC048E9-0306-82A5-728E-6D23B41ECFAA}"/>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6384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F672AD9-ABF9-C3BD-16DF-7ACC0F9936E9}"/>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B027721C-4523-CCB9-FCD3-EA5B9A653539}"/>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
        <p:nvSpPr>
          <p:cNvPr id="106" name="Google Shape;106;p6:notes">
            <a:extLst>
              <a:ext uri="{FF2B5EF4-FFF2-40B4-BE49-F238E27FC236}">
                <a16:creationId xmlns:a16="http://schemas.microsoft.com/office/drawing/2014/main" id="{C2CE9FDC-536E-9EB5-7C64-EF559DEE9D45}"/>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6218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2DED053-4FE1-F3E2-E207-5043F7F7DB97}"/>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153BFF9E-59A0-EA24-A941-1D54CF3F39E1}"/>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747448C9-D67D-57CE-E129-B58B16A074FB}"/>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7888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9B1764A-428A-07B7-FCA3-C59A2821FB4A}"/>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D0AF73B6-3BDD-AACA-97E0-E1A6EC2EE169}"/>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0A1D45A7-D5E1-A8CD-1829-70182B25800E}"/>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779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D495F6-500C-4831-DFB4-56B945576A1D}"/>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D5216F6C-6110-FA3A-FDD9-5CD3A6836C46}"/>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3A379A51-6826-58F9-AD17-A00BF0CAAB1C}"/>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42679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EB3FD24-6309-948C-CC7D-AD398CF6F914}"/>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95CC9A52-5C13-3429-A687-77BFAC4B333D}"/>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5E6D190B-7170-73BD-273A-AFEEFC289350}"/>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607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A9C78FB-25FD-D4CE-1422-FC8A71B970CF}"/>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E4C7D00C-0CB7-E2D8-69C8-50B8BB7075A8}"/>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33FCB77A-3D51-17B4-C2C0-7EA97A79482C}"/>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30739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41AF928-0382-6DC5-1BEF-69B2F44E7E41}"/>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B6B73DEF-8BD0-8008-84F4-8F5A6D4C01C3}"/>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0D4BE2FE-D32E-CBCA-C72A-7B95ABF8D6B9}"/>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3724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748622E-E61B-13A8-53C3-DBEC31B54C80}"/>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47A5A584-68D2-DC9B-4FED-D525BF6746A3}"/>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C82C260A-1E1C-D47E-88AC-3D5D70A33E13}"/>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377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21399EC-D897-104F-8B7C-0CD2AEB6D2DB}"/>
            </a:ext>
          </a:extLst>
        </p:cNvPr>
        <p:cNvGrpSpPr/>
        <p:nvPr/>
      </p:nvGrpSpPr>
      <p:grpSpPr>
        <a:xfrm>
          <a:off x="0" y="0"/>
          <a:ext cx="0" cy="0"/>
          <a:chOff x="0" y="0"/>
          <a:chExt cx="0" cy="0"/>
        </a:xfrm>
      </p:grpSpPr>
      <p:sp>
        <p:nvSpPr>
          <p:cNvPr id="105" name="Google Shape;105;p6:notes">
            <a:extLst>
              <a:ext uri="{FF2B5EF4-FFF2-40B4-BE49-F238E27FC236}">
                <a16:creationId xmlns:a16="http://schemas.microsoft.com/office/drawing/2014/main" id="{254DF4B3-770E-9143-EF1D-1DD1A3F8D075}"/>
              </a:ext>
            </a:extLst>
          </p:cNvPr>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a:extLst>
              <a:ext uri="{FF2B5EF4-FFF2-40B4-BE49-F238E27FC236}">
                <a16:creationId xmlns:a16="http://schemas.microsoft.com/office/drawing/2014/main" id="{E122E924-639D-E9F0-84AA-3F125DCD30D2}"/>
              </a:ext>
            </a:extLst>
          </p:cNvPr>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947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741736" y="1028089"/>
            <a:ext cx="8574926" cy="57975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50" b="0" i="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5104637" y="2385822"/>
            <a:ext cx="4243070" cy="284416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6652604" y="6273095"/>
            <a:ext cx="13220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3634651" y="6273095"/>
            <a:ext cx="22237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9150872" y="6273095"/>
            <a:ext cx="543813" cy="245561"/>
          </a:xfrm>
          <a:prstGeom prst="rect">
            <a:avLst/>
          </a:prstGeom>
          <a:noFill/>
          <a:ln>
            <a:noFill/>
          </a:ln>
        </p:spPr>
        <p:txBody>
          <a:bodyPr spcFirstLastPara="1" wrap="square" lIns="0" tIns="0" rIns="0" bIns="0" anchor="t" anchorCtr="0">
            <a:spAutoFit/>
          </a:bodyPr>
          <a:lstStyle>
            <a:lvl1pPr marL="59689" lvl="0" indent="0">
              <a:lnSpc>
                <a:spcPct val="118206"/>
              </a:lnSpc>
              <a:spcBef>
                <a:spcPts val="0"/>
              </a:spcBef>
              <a:buNone/>
              <a:defRPr sz="1450" b="0" i="0">
                <a:solidFill>
                  <a:schemeClr val="lt1"/>
                </a:solidFill>
                <a:latin typeface="Times New Roman"/>
                <a:ea typeface="Times New Roman"/>
                <a:cs typeface="Times New Roman"/>
                <a:sym typeface="Times New Roman"/>
              </a:defRPr>
            </a:lvl1pPr>
            <a:lvl2pPr marL="59689" lvl="1" indent="0">
              <a:lnSpc>
                <a:spcPct val="118206"/>
              </a:lnSpc>
              <a:spcBef>
                <a:spcPts val="0"/>
              </a:spcBef>
              <a:buNone/>
              <a:defRPr sz="1450" b="0" i="0">
                <a:solidFill>
                  <a:schemeClr val="lt1"/>
                </a:solidFill>
                <a:latin typeface="Times New Roman"/>
                <a:ea typeface="Times New Roman"/>
                <a:cs typeface="Times New Roman"/>
                <a:sym typeface="Times New Roman"/>
              </a:defRPr>
            </a:lvl2pPr>
            <a:lvl3pPr marL="59689" lvl="2" indent="0">
              <a:lnSpc>
                <a:spcPct val="118206"/>
              </a:lnSpc>
              <a:spcBef>
                <a:spcPts val="0"/>
              </a:spcBef>
              <a:buNone/>
              <a:defRPr sz="1450" b="0" i="0">
                <a:solidFill>
                  <a:schemeClr val="lt1"/>
                </a:solidFill>
                <a:latin typeface="Times New Roman"/>
                <a:ea typeface="Times New Roman"/>
                <a:cs typeface="Times New Roman"/>
                <a:sym typeface="Times New Roman"/>
              </a:defRPr>
            </a:lvl3pPr>
            <a:lvl4pPr marL="59689" lvl="3" indent="0">
              <a:lnSpc>
                <a:spcPct val="118206"/>
              </a:lnSpc>
              <a:spcBef>
                <a:spcPts val="0"/>
              </a:spcBef>
              <a:buNone/>
              <a:defRPr sz="1450" b="0" i="0">
                <a:solidFill>
                  <a:schemeClr val="lt1"/>
                </a:solidFill>
                <a:latin typeface="Times New Roman"/>
                <a:ea typeface="Times New Roman"/>
                <a:cs typeface="Times New Roman"/>
                <a:sym typeface="Times New Roman"/>
              </a:defRPr>
            </a:lvl4pPr>
            <a:lvl5pPr marL="59689" lvl="4" indent="0">
              <a:lnSpc>
                <a:spcPct val="118206"/>
              </a:lnSpc>
              <a:spcBef>
                <a:spcPts val="0"/>
              </a:spcBef>
              <a:buNone/>
              <a:defRPr sz="1450" b="0" i="0">
                <a:solidFill>
                  <a:schemeClr val="lt1"/>
                </a:solidFill>
                <a:latin typeface="Times New Roman"/>
                <a:ea typeface="Times New Roman"/>
                <a:cs typeface="Times New Roman"/>
                <a:sym typeface="Times New Roman"/>
              </a:defRPr>
            </a:lvl5pPr>
            <a:lvl6pPr marL="59689" lvl="5" indent="0">
              <a:lnSpc>
                <a:spcPct val="118206"/>
              </a:lnSpc>
              <a:spcBef>
                <a:spcPts val="0"/>
              </a:spcBef>
              <a:buNone/>
              <a:defRPr sz="1450" b="0" i="0">
                <a:solidFill>
                  <a:schemeClr val="lt1"/>
                </a:solidFill>
                <a:latin typeface="Times New Roman"/>
                <a:ea typeface="Times New Roman"/>
                <a:cs typeface="Times New Roman"/>
                <a:sym typeface="Times New Roman"/>
              </a:defRPr>
            </a:lvl6pPr>
            <a:lvl7pPr marL="59689" lvl="6" indent="0">
              <a:lnSpc>
                <a:spcPct val="118206"/>
              </a:lnSpc>
              <a:spcBef>
                <a:spcPts val="0"/>
              </a:spcBef>
              <a:buNone/>
              <a:defRPr sz="1450" b="0" i="0">
                <a:solidFill>
                  <a:schemeClr val="lt1"/>
                </a:solidFill>
                <a:latin typeface="Times New Roman"/>
                <a:ea typeface="Times New Roman"/>
                <a:cs typeface="Times New Roman"/>
                <a:sym typeface="Times New Roman"/>
              </a:defRPr>
            </a:lvl7pPr>
            <a:lvl8pPr marL="59689" lvl="7" indent="0">
              <a:lnSpc>
                <a:spcPct val="118206"/>
              </a:lnSpc>
              <a:spcBef>
                <a:spcPts val="0"/>
              </a:spcBef>
              <a:buNone/>
              <a:defRPr sz="1450" b="0" i="0">
                <a:solidFill>
                  <a:schemeClr val="lt1"/>
                </a:solidFill>
                <a:latin typeface="Times New Roman"/>
                <a:ea typeface="Times New Roman"/>
                <a:cs typeface="Times New Roman"/>
                <a:sym typeface="Times New Roman"/>
              </a:defRPr>
            </a:lvl8pPr>
            <a:lvl9pPr marL="59689" lvl="8" indent="0">
              <a:lnSpc>
                <a:spcPct val="118206"/>
              </a:lnSpc>
              <a:spcBef>
                <a:spcPts val="0"/>
              </a:spcBef>
              <a:buNone/>
              <a:defRPr sz="1450" b="0" i="0">
                <a:solidFill>
                  <a:schemeClr val="lt1"/>
                </a:solidFill>
                <a:latin typeface="Times New Roman"/>
                <a:ea typeface="Times New Roman"/>
                <a:cs typeface="Times New Roman"/>
                <a:sym typeface="Times New Roman"/>
              </a:defRPr>
            </a:lvl9pPr>
          </a:lstStyle>
          <a:p>
            <a:pPr marL="59689" lvl="0" indent="0" algn="l" rtl="0">
              <a:spcBef>
                <a:spcPts val="0"/>
              </a:spcBef>
              <a:spcAft>
                <a:spcPts val="0"/>
              </a:spcAft>
              <a:buNone/>
            </a:pPr>
            <a:fld id="{00000000-1234-1234-1234-123412341234}" type="slidenum">
              <a:rPr lang="en-US"/>
              <a:t>‹#›</a:t>
            </a:fld>
            <a:r>
              <a:rPr lang="en-US" dirty="0"/>
              <a:t> </a:t>
            </a:r>
            <a:r>
              <a:rPr lang="en-US"/>
              <a:t>/ 28</a:t>
            </a: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741736" y="1028089"/>
            <a:ext cx="8574926" cy="57975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50" b="0" i="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6652604" y="6273095"/>
            <a:ext cx="13220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3634651" y="6273095"/>
            <a:ext cx="22237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9150872" y="6273095"/>
            <a:ext cx="543813" cy="245561"/>
          </a:xfrm>
          <a:prstGeom prst="rect">
            <a:avLst/>
          </a:prstGeom>
          <a:noFill/>
          <a:ln>
            <a:noFill/>
          </a:ln>
        </p:spPr>
        <p:txBody>
          <a:bodyPr spcFirstLastPara="1" wrap="square" lIns="0" tIns="0" rIns="0" bIns="0" anchor="t" anchorCtr="0">
            <a:spAutoFit/>
          </a:bodyPr>
          <a:lstStyle>
            <a:lvl1pPr marL="59689" lvl="0" indent="0">
              <a:lnSpc>
                <a:spcPct val="118206"/>
              </a:lnSpc>
              <a:spcBef>
                <a:spcPts val="0"/>
              </a:spcBef>
              <a:buNone/>
              <a:defRPr sz="1450" b="0" i="0">
                <a:solidFill>
                  <a:schemeClr val="lt1"/>
                </a:solidFill>
                <a:latin typeface="Times New Roman"/>
                <a:ea typeface="Times New Roman"/>
                <a:cs typeface="Times New Roman"/>
                <a:sym typeface="Times New Roman"/>
              </a:defRPr>
            </a:lvl1pPr>
            <a:lvl2pPr marL="59689" lvl="1" indent="0">
              <a:lnSpc>
                <a:spcPct val="118206"/>
              </a:lnSpc>
              <a:spcBef>
                <a:spcPts val="0"/>
              </a:spcBef>
              <a:buNone/>
              <a:defRPr sz="1450" b="0" i="0">
                <a:solidFill>
                  <a:schemeClr val="lt1"/>
                </a:solidFill>
                <a:latin typeface="Times New Roman"/>
                <a:ea typeface="Times New Roman"/>
                <a:cs typeface="Times New Roman"/>
                <a:sym typeface="Times New Roman"/>
              </a:defRPr>
            </a:lvl2pPr>
            <a:lvl3pPr marL="59689" lvl="2" indent="0">
              <a:lnSpc>
                <a:spcPct val="118206"/>
              </a:lnSpc>
              <a:spcBef>
                <a:spcPts val="0"/>
              </a:spcBef>
              <a:buNone/>
              <a:defRPr sz="1450" b="0" i="0">
                <a:solidFill>
                  <a:schemeClr val="lt1"/>
                </a:solidFill>
                <a:latin typeface="Times New Roman"/>
                <a:ea typeface="Times New Roman"/>
                <a:cs typeface="Times New Roman"/>
                <a:sym typeface="Times New Roman"/>
              </a:defRPr>
            </a:lvl3pPr>
            <a:lvl4pPr marL="59689" lvl="3" indent="0">
              <a:lnSpc>
                <a:spcPct val="118206"/>
              </a:lnSpc>
              <a:spcBef>
                <a:spcPts val="0"/>
              </a:spcBef>
              <a:buNone/>
              <a:defRPr sz="1450" b="0" i="0">
                <a:solidFill>
                  <a:schemeClr val="lt1"/>
                </a:solidFill>
                <a:latin typeface="Times New Roman"/>
                <a:ea typeface="Times New Roman"/>
                <a:cs typeface="Times New Roman"/>
                <a:sym typeface="Times New Roman"/>
              </a:defRPr>
            </a:lvl4pPr>
            <a:lvl5pPr marL="59689" lvl="4" indent="0">
              <a:lnSpc>
                <a:spcPct val="118206"/>
              </a:lnSpc>
              <a:spcBef>
                <a:spcPts val="0"/>
              </a:spcBef>
              <a:buNone/>
              <a:defRPr sz="1450" b="0" i="0">
                <a:solidFill>
                  <a:schemeClr val="lt1"/>
                </a:solidFill>
                <a:latin typeface="Times New Roman"/>
                <a:ea typeface="Times New Roman"/>
                <a:cs typeface="Times New Roman"/>
                <a:sym typeface="Times New Roman"/>
              </a:defRPr>
            </a:lvl5pPr>
            <a:lvl6pPr marL="59689" lvl="5" indent="0">
              <a:lnSpc>
                <a:spcPct val="118206"/>
              </a:lnSpc>
              <a:spcBef>
                <a:spcPts val="0"/>
              </a:spcBef>
              <a:buNone/>
              <a:defRPr sz="1450" b="0" i="0">
                <a:solidFill>
                  <a:schemeClr val="lt1"/>
                </a:solidFill>
                <a:latin typeface="Times New Roman"/>
                <a:ea typeface="Times New Roman"/>
                <a:cs typeface="Times New Roman"/>
                <a:sym typeface="Times New Roman"/>
              </a:defRPr>
            </a:lvl6pPr>
            <a:lvl7pPr marL="59689" lvl="6" indent="0">
              <a:lnSpc>
                <a:spcPct val="118206"/>
              </a:lnSpc>
              <a:spcBef>
                <a:spcPts val="0"/>
              </a:spcBef>
              <a:buNone/>
              <a:defRPr sz="1450" b="0" i="0">
                <a:solidFill>
                  <a:schemeClr val="lt1"/>
                </a:solidFill>
                <a:latin typeface="Times New Roman"/>
                <a:ea typeface="Times New Roman"/>
                <a:cs typeface="Times New Roman"/>
                <a:sym typeface="Times New Roman"/>
              </a:defRPr>
            </a:lvl7pPr>
            <a:lvl8pPr marL="59689" lvl="7" indent="0">
              <a:lnSpc>
                <a:spcPct val="118206"/>
              </a:lnSpc>
              <a:spcBef>
                <a:spcPts val="0"/>
              </a:spcBef>
              <a:buNone/>
              <a:defRPr sz="1450" b="0" i="0">
                <a:solidFill>
                  <a:schemeClr val="lt1"/>
                </a:solidFill>
                <a:latin typeface="Times New Roman"/>
                <a:ea typeface="Times New Roman"/>
                <a:cs typeface="Times New Roman"/>
                <a:sym typeface="Times New Roman"/>
              </a:defRPr>
            </a:lvl8pPr>
            <a:lvl9pPr marL="59689" lvl="8" indent="0">
              <a:lnSpc>
                <a:spcPct val="118206"/>
              </a:lnSpc>
              <a:spcBef>
                <a:spcPts val="0"/>
              </a:spcBef>
              <a:buNone/>
              <a:defRPr sz="1450" b="0" i="0">
                <a:solidFill>
                  <a:schemeClr val="lt1"/>
                </a:solidFill>
                <a:latin typeface="Times New Roman"/>
                <a:ea typeface="Times New Roman"/>
                <a:cs typeface="Times New Roman"/>
                <a:sym typeface="Times New Roman"/>
              </a:defRPr>
            </a:lvl9pPr>
          </a:lstStyle>
          <a:p>
            <a:pPr marL="59689" lvl="0" indent="0" algn="l" rtl="0">
              <a:spcBef>
                <a:spcPts val="0"/>
              </a:spcBef>
              <a:spcAft>
                <a:spcPts val="0"/>
              </a:spcAft>
              <a:buNone/>
            </a:pPr>
            <a:fld id="{00000000-1234-1234-1234-123412341234}" type="slidenum">
              <a:rPr lang="en-US"/>
              <a:t>‹#›</a:t>
            </a:fld>
            <a:r>
              <a:rPr lang="en-US" dirty="0"/>
              <a:t> / 28</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50" b="0" i="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6652604" y="6273095"/>
            <a:ext cx="13220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3634651" y="6273095"/>
            <a:ext cx="22237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9150872" y="6273095"/>
            <a:ext cx="543813" cy="245561"/>
          </a:xfrm>
          <a:prstGeom prst="rect">
            <a:avLst/>
          </a:prstGeom>
          <a:noFill/>
          <a:ln>
            <a:noFill/>
          </a:ln>
        </p:spPr>
        <p:txBody>
          <a:bodyPr spcFirstLastPara="1" wrap="square" lIns="0" tIns="0" rIns="0" bIns="0" anchor="t" anchorCtr="0">
            <a:spAutoFit/>
          </a:bodyPr>
          <a:lstStyle>
            <a:lvl1pPr marL="59689" lvl="0" indent="0">
              <a:lnSpc>
                <a:spcPct val="118206"/>
              </a:lnSpc>
              <a:spcBef>
                <a:spcPts val="0"/>
              </a:spcBef>
              <a:buNone/>
              <a:defRPr sz="1450" b="0" i="0">
                <a:solidFill>
                  <a:schemeClr val="lt1"/>
                </a:solidFill>
                <a:latin typeface="Times New Roman"/>
                <a:ea typeface="Times New Roman"/>
                <a:cs typeface="Times New Roman"/>
                <a:sym typeface="Times New Roman"/>
              </a:defRPr>
            </a:lvl1pPr>
            <a:lvl2pPr marL="59689" lvl="1" indent="0">
              <a:lnSpc>
                <a:spcPct val="118206"/>
              </a:lnSpc>
              <a:spcBef>
                <a:spcPts val="0"/>
              </a:spcBef>
              <a:buNone/>
              <a:defRPr sz="1450" b="0" i="0">
                <a:solidFill>
                  <a:schemeClr val="lt1"/>
                </a:solidFill>
                <a:latin typeface="Times New Roman"/>
                <a:ea typeface="Times New Roman"/>
                <a:cs typeface="Times New Roman"/>
                <a:sym typeface="Times New Roman"/>
              </a:defRPr>
            </a:lvl2pPr>
            <a:lvl3pPr marL="59689" lvl="2" indent="0">
              <a:lnSpc>
                <a:spcPct val="118206"/>
              </a:lnSpc>
              <a:spcBef>
                <a:spcPts val="0"/>
              </a:spcBef>
              <a:buNone/>
              <a:defRPr sz="1450" b="0" i="0">
                <a:solidFill>
                  <a:schemeClr val="lt1"/>
                </a:solidFill>
                <a:latin typeface="Times New Roman"/>
                <a:ea typeface="Times New Roman"/>
                <a:cs typeface="Times New Roman"/>
                <a:sym typeface="Times New Roman"/>
              </a:defRPr>
            </a:lvl3pPr>
            <a:lvl4pPr marL="59689" lvl="3" indent="0">
              <a:lnSpc>
                <a:spcPct val="118206"/>
              </a:lnSpc>
              <a:spcBef>
                <a:spcPts val="0"/>
              </a:spcBef>
              <a:buNone/>
              <a:defRPr sz="1450" b="0" i="0">
                <a:solidFill>
                  <a:schemeClr val="lt1"/>
                </a:solidFill>
                <a:latin typeface="Times New Roman"/>
                <a:ea typeface="Times New Roman"/>
                <a:cs typeface="Times New Roman"/>
                <a:sym typeface="Times New Roman"/>
              </a:defRPr>
            </a:lvl4pPr>
            <a:lvl5pPr marL="59689" lvl="4" indent="0">
              <a:lnSpc>
                <a:spcPct val="118206"/>
              </a:lnSpc>
              <a:spcBef>
                <a:spcPts val="0"/>
              </a:spcBef>
              <a:buNone/>
              <a:defRPr sz="1450" b="0" i="0">
                <a:solidFill>
                  <a:schemeClr val="lt1"/>
                </a:solidFill>
                <a:latin typeface="Times New Roman"/>
                <a:ea typeface="Times New Roman"/>
                <a:cs typeface="Times New Roman"/>
                <a:sym typeface="Times New Roman"/>
              </a:defRPr>
            </a:lvl5pPr>
            <a:lvl6pPr marL="59689" lvl="5" indent="0">
              <a:lnSpc>
                <a:spcPct val="118206"/>
              </a:lnSpc>
              <a:spcBef>
                <a:spcPts val="0"/>
              </a:spcBef>
              <a:buNone/>
              <a:defRPr sz="1450" b="0" i="0">
                <a:solidFill>
                  <a:schemeClr val="lt1"/>
                </a:solidFill>
                <a:latin typeface="Times New Roman"/>
                <a:ea typeface="Times New Roman"/>
                <a:cs typeface="Times New Roman"/>
                <a:sym typeface="Times New Roman"/>
              </a:defRPr>
            </a:lvl6pPr>
            <a:lvl7pPr marL="59689" lvl="6" indent="0">
              <a:lnSpc>
                <a:spcPct val="118206"/>
              </a:lnSpc>
              <a:spcBef>
                <a:spcPts val="0"/>
              </a:spcBef>
              <a:buNone/>
              <a:defRPr sz="1450" b="0" i="0">
                <a:solidFill>
                  <a:schemeClr val="lt1"/>
                </a:solidFill>
                <a:latin typeface="Times New Roman"/>
                <a:ea typeface="Times New Roman"/>
                <a:cs typeface="Times New Roman"/>
                <a:sym typeface="Times New Roman"/>
              </a:defRPr>
            </a:lvl7pPr>
            <a:lvl8pPr marL="59689" lvl="7" indent="0">
              <a:lnSpc>
                <a:spcPct val="118206"/>
              </a:lnSpc>
              <a:spcBef>
                <a:spcPts val="0"/>
              </a:spcBef>
              <a:buNone/>
              <a:defRPr sz="1450" b="0" i="0">
                <a:solidFill>
                  <a:schemeClr val="lt1"/>
                </a:solidFill>
                <a:latin typeface="Times New Roman"/>
                <a:ea typeface="Times New Roman"/>
                <a:cs typeface="Times New Roman"/>
                <a:sym typeface="Times New Roman"/>
              </a:defRPr>
            </a:lvl8pPr>
            <a:lvl9pPr marL="59689" lvl="8" indent="0">
              <a:lnSpc>
                <a:spcPct val="118206"/>
              </a:lnSpc>
              <a:spcBef>
                <a:spcPts val="0"/>
              </a:spcBef>
              <a:buNone/>
              <a:defRPr sz="1450" b="0" i="0">
                <a:solidFill>
                  <a:schemeClr val="lt1"/>
                </a:solidFill>
                <a:latin typeface="Times New Roman"/>
                <a:ea typeface="Times New Roman"/>
                <a:cs typeface="Times New Roman"/>
                <a:sym typeface="Times New Roman"/>
              </a:defRPr>
            </a:lvl9pPr>
          </a:lstStyle>
          <a:p>
            <a:pPr marL="59689" lvl="0" indent="0" algn="l" rtl="0">
              <a:spcBef>
                <a:spcPts val="0"/>
              </a:spcBef>
              <a:spcAft>
                <a:spcPts val="0"/>
              </a:spcAft>
              <a:buNone/>
            </a:pPr>
            <a:fld id="{00000000-1234-1234-1234-123412341234}" type="slidenum">
              <a:rPr lang="en-US"/>
              <a:t>‹#›</a:t>
            </a:fld>
            <a:r>
              <a:rPr lang="en-US" dirty="0"/>
              <a:t> </a:t>
            </a:r>
            <a:r>
              <a:rPr lang="en-US"/>
              <a:t>/ 28</a:t>
            </a: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41736" y="1028089"/>
            <a:ext cx="8574926" cy="57975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50" b="0" i="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502920" y="1787652"/>
            <a:ext cx="4375404" cy="512978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5"/>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6652604" y="6273095"/>
            <a:ext cx="13220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dt" idx="10"/>
          </p:nvPr>
        </p:nvSpPr>
        <p:spPr>
          <a:xfrm>
            <a:off x="3634651" y="6273095"/>
            <a:ext cx="22237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9150872" y="6273095"/>
            <a:ext cx="543813" cy="245561"/>
          </a:xfrm>
          <a:prstGeom prst="rect">
            <a:avLst/>
          </a:prstGeom>
          <a:noFill/>
          <a:ln>
            <a:noFill/>
          </a:ln>
        </p:spPr>
        <p:txBody>
          <a:bodyPr spcFirstLastPara="1" wrap="square" lIns="0" tIns="0" rIns="0" bIns="0" anchor="t" anchorCtr="0">
            <a:spAutoFit/>
          </a:bodyPr>
          <a:lstStyle>
            <a:lvl1pPr marL="59689" lvl="0" indent="0">
              <a:lnSpc>
                <a:spcPct val="118206"/>
              </a:lnSpc>
              <a:spcBef>
                <a:spcPts val="0"/>
              </a:spcBef>
              <a:buNone/>
              <a:defRPr sz="1450" b="0" i="0">
                <a:solidFill>
                  <a:schemeClr val="lt1"/>
                </a:solidFill>
                <a:latin typeface="Times New Roman"/>
                <a:ea typeface="Times New Roman"/>
                <a:cs typeface="Times New Roman"/>
                <a:sym typeface="Times New Roman"/>
              </a:defRPr>
            </a:lvl1pPr>
            <a:lvl2pPr marL="59689" lvl="1" indent="0">
              <a:lnSpc>
                <a:spcPct val="118206"/>
              </a:lnSpc>
              <a:spcBef>
                <a:spcPts val="0"/>
              </a:spcBef>
              <a:buNone/>
              <a:defRPr sz="1450" b="0" i="0">
                <a:solidFill>
                  <a:schemeClr val="lt1"/>
                </a:solidFill>
                <a:latin typeface="Times New Roman"/>
                <a:ea typeface="Times New Roman"/>
                <a:cs typeface="Times New Roman"/>
                <a:sym typeface="Times New Roman"/>
              </a:defRPr>
            </a:lvl2pPr>
            <a:lvl3pPr marL="59689" lvl="2" indent="0">
              <a:lnSpc>
                <a:spcPct val="118206"/>
              </a:lnSpc>
              <a:spcBef>
                <a:spcPts val="0"/>
              </a:spcBef>
              <a:buNone/>
              <a:defRPr sz="1450" b="0" i="0">
                <a:solidFill>
                  <a:schemeClr val="lt1"/>
                </a:solidFill>
                <a:latin typeface="Times New Roman"/>
                <a:ea typeface="Times New Roman"/>
                <a:cs typeface="Times New Roman"/>
                <a:sym typeface="Times New Roman"/>
              </a:defRPr>
            </a:lvl3pPr>
            <a:lvl4pPr marL="59689" lvl="3" indent="0">
              <a:lnSpc>
                <a:spcPct val="118206"/>
              </a:lnSpc>
              <a:spcBef>
                <a:spcPts val="0"/>
              </a:spcBef>
              <a:buNone/>
              <a:defRPr sz="1450" b="0" i="0">
                <a:solidFill>
                  <a:schemeClr val="lt1"/>
                </a:solidFill>
                <a:latin typeface="Times New Roman"/>
                <a:ea typeface="Times New Roman"/>
                <a:cs typeface="Times New Roman"/>
                <a:sym typeface="Times New Roman"/>
              </a:defRPr>
            </a:lvl4pPr>
            <a:lvl5pPr marL="59689" lvl="4" indent="0">
              <a:lnSpc>
                <a:spcPct val="118206"/>
              </a:lnSpc>
              <a:spcBef>
                <a:spcPts val="0"/>
              </a:spcBef>
              <a:buNone/>
              <a:defRPr sz="1450" b="0" i="0">
                <a:solidFill>
                  <a:schemeClr val="lt1"/>
                </a:solidFill>
                <a:latin typeface="Times New Roman"/>
                <a:ea typeface="Times New Roman"/>
                <a:cs typeface="Times New Roman"/>
                <a:sym typeface="Times New Roman"/>
              </a:defRPr>
            </a:lvl5pPr>
            <a:lvl6pPr marL="59689" lvl="5" indent="0">
              <a:lnSpc>
                <a:spcPct val="118206"/>
              </a:lnSpc>
              <a:spcBef>
                <a:spcPts val="0"/>
              </a:spcBef>
              <a:buNone/>
              <a:defRPr sz="1450" b="0" i="0">
                <a:solidFill>
                  <a:schemeClr val="lt1"/>
                </a:solidFill>
                <a:latin typeface="Times New Roman"/>
                <a:ea typeface="Times New Roman"/>
                <a:cs typeface="Times New Roman"/>
                <a:sym typeface="Times New Roman"/>
              </a:defRPr>
            </a:lvl6pPr>
            <a:lvl7pPr marL="59689" lvl="6" indent="0">
              <a:lnSpc>
                <a:spcPct val="118206"/>
              </a:lnSpc>
              <a:spcBef>
                <a:spcPts val="0"/>
              </a:spcBef>
              <a:buNone/>
              <a:defRPr sz="1450" b="0" i="0">
                <a:solidFill>
                  <a:schemeClr val="lt1"/>
                </a:solidFill>
                <a:latin typeface="Times New Roman"/>
                <a:ea typeface="Times New Roman"/>
                <a:cs typeface="Times New Roman"/>
                <a:sym typeface="Times New Roman"/>
              </a:defRPr>
            </a:lvl7pPr>
            <a:lvl8pPr marL="59689" lvl="7" indent="0">
              <a:lnSpc>
                <a:spcPct val="118206"/>
              </a:lnSpc>
              <a:spcBef>
                <a:spcPts val="0"/>
              </a:spcBef>
              <a:buNone/>
              <a:defRPr sz="1450" b="0" i="0">
                <a:solidFill>
                  <a:schemeClr val="lt1"/>
                </a:solidFill>
                <a:latin typeface="Times New Roman"/>
                <a:ea typeface="Times New Roman"/>
                <a:cs typeface="Times New Roman"/>
                <a:sym typeface="Times New Roman"/>
              </a:defRPr>
            </a:lvl8pPr>
            <a:lvl9pPr marL="59689" lvl="8" indent="0">
              <a:lnSpc>
                <a:spcPct val="118206"/>
              </a:lnSpc>
              <a:spcBef>
                <a:spcPts val="0"/>
              </a:spcBef>
              <a:buNone/>
              <a:defRPr sz="1450" b="0" i="0">
                <a:solidFill>
                  <a:schemeClr val="lt1"/>
                </a:solidFill>
                <a:latin typeface="Times New Roman"/>
                <a:ea typeface="Times New Roman"/>
                <a:cs typeface="Times New Roman"/>
                <a:sym typeface="Times New Roman"/>
              </a:defRPr>
            </a:lvl9pPr>
          </a:lstStyle>
          <a:p>
            <a:pPr marL="59689" lvl="0" indent="0" algn="l" rtl="0">
              <a:spcBef>
                <a:spcPts val="0"/>
              </a:spcBef>
              <a:spcAft>
                <a:spcPts val="0"/>
              </a:spcAft>
              <a:buNone/>
            </a:pPr>
            <a:fld id="{00000000-1234-1234-1234-123412341234}" type="slidenum">
              <a:rPr lang="en-US"/>
              <a:t>‹#›</a:t>
            </a:fld>
            <a:r>
              <a:rPr lang="en-US" dirty="0"/>
              <a:t> </a:t>
            </a:r>
            <a:r>
              <a:rPr lang="en-US"/>
              <a:t>/ 28</a:t>
            </a:r>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6"/>
          <p:cNvSpPr txBox="1">
            <a:spLocks noGrp="1"/>
          </p:cNvSpPr>
          <p:nvPr>
            <p:ph type="ftr" idx="11"/>
          </p:nvPr>
        </p:nvSpPr>
        <p:spPr>
          <a:xfrm>
            <a:off x="6652604" y="6273095"/>
            <a:ext cx="13220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dt" idx="10"/>
          </p:nvPr>
        </p:nvSpPr>
        <p:spPr>
          <a:xfrm>
            <a:off x="3634651" y="6273095"/>
            <a:ext cx="22237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9150872" y="6273095"/>
            <a:ext cx="543813" cy="245561"/>
          </a:xfrm>
          <a:prstGeom prst="rect">
            <a:avLst/>
          </a:prstGeom>
          <a:noFill/>
          <a:ln>
            <a:noFill/>
          </a:ln>
        </p:spPr>
        <p:txBody>
          <a:bodyPr spcFirstLastPara="1" wrap="square" lIns="0" tIns="0" rIns="0" bIns="0" anchor="t" anchorCtr="0">
            <a:spAutoFit/>
          </a:bodyPr>
          <a:lstStyle>
            <a:lvl1pPr marL="59689" lvl="0" indent="0">
              <a:lnSpc>
                <a:spcPct val="118206"/>
              </a:lnSpc>
              <a:spcBef>
                <a:spcPts val="0"/>
              </a:spcBef>
              <a:buNone/>
              <a:defRPr sz="1450" b="0" i="0">
                <a:solidFill>
                  <a:schemeClr val="lt1"/>
                </a:solidFill>
                <a:latin typeface="Times New Roman"/>
                <a:ea typeface="Times New Roman"/>
                <a:cs typeface="Times New Roman"/>
                <a:sym typeface="Times New Roman"/>
              </a:defRPr>
            </a:lvl1pPr>
            <a:lvl2pPr marL="59689" lvl="1" indent="0">
              <a:lnSpc>
                <a:spcPct val="118206"/>
              </a:lnSpc>
              <a:spcBef>
                <a:spcPts val="0"/>
              </a:spcBef>
              <a:buNone/>
              <a:defRPr sz="1450" b="0" i="0">
                <a:solidFill>
                  <a:schemeClr val="lt1"/>
                </a:solidFill>
                <a:latin typeface="Times New Roman"/>
                <a:ea typeface="Times New Roman"/>
                <a:cs typeface="Times New Roman"/>
                <a:sym typeface="Times New Roman"/>
              </a:defRPr>
            </a:lvl2pPr>
            <a:lvl3pPr marL="59689" lvl="2" indent="0">
              <a:lnSpc>
                <a:spcPct val="118206"/>
              </a:lnSpc>
              <a:spcBef>
                <a:spcPts val="0"/>
              </a:spcBef>
              <a:buNone/>
              <a:defRPr sz="1450" b="0" i="0">
                <a:solidFill>
                  <a:schemeClr val="lt1"/>
                </a:solidFill>
                <a:latin typeface="Times New Roman"/>
                <a:ea typeface="Times New Roman"/>
                <a:cs typeface="Times New Roman"/>
                <a:sym typeface="Times New Roman"/>
              </a:defRPr>
            </a:lvl3pPr>
            <a:lvl4pPr marL="59689" lvl="3" indent="0">
              <a:lnSpc>
                <a:spcPct val="118206"/>
              </a:lnSpc>
              <a:spcBef>
                <a:spcPts val="0"/>
              </a:spcBef>
              <a:buNone/>
              <a:defRPr sz="1450" b="0" i="0">
                <a:solidFill>
                  <a:schemeClr val="lt1"/>
                </a:solidFill>
                <a:latin typeface="Times New Roman"/>
                <a:ea typeface="Times New Roman"/>
                <a:cs typeface="Times New Roman"/>
                <a:sym typeface="Times New Roman"/>
              </a:defRPr>
            </a:lvl4pPr>
            <a:lvl5pPr marL="59689" lvl="4" indent="0">
              <a:lnSpc>
                <a:spcPct val="118206"/>
              </a:lnSpc>
              <a:spcBef>
                <a:spcPts val="0"/>
              </a:spcBef>
              <a:buNone/>
              <a:defRPr sz="1450" b="0" i="0">
                <a:solidFill>
                  <a:schemeClr val="lt1"/>
                </a:solidFill>
                <a:latin typeface="Times New Roman"/>
                <a:ea typeface="Times New Roman"/>
                <a:cs typeface="Times New Roman"/>
                <a:sym typeface="Times New Roman"/>
              </a:defRPr>
            </a:lvl5pPr>
            <a:lvl6pPr marL="59689" lvl="5" indent="0">
              <a:lnSpc>
                <a:spcPct val="118206"/>
              </a:lnSpc>
              <a:spcBef>
                <a:spcPts val="0"/>
              </a:spcBef>
              <a:buNone/>
              <a:defRPr sz="1450" b="0" i="0">
                <a:solidFill>
                  <a:schemeClr val="lt1"/>
                </a:solidFill>
                <a:latin typeface="Times New Roman"/>
                <a:ea typeface="Times New Roman"/>
                <a:cs typeface="Times New Roman"/>
                <a:sym typeface="Times New Roman"/>
              </a:defRPr>
            </a:lvl6pPr>
            <a:lvl7pPr marL="59689" lvl="6" indent="0">
              <a:lnSpc>
                <a:spcPct val="118206"/>
              </a:lnSpc>
              <a:spcBef>
                <a:spcPts val="0"/>
              </a:spcBef>
              <a:buNone/>
              <a:defRPr sz="1450" b="0" i="0">
                <a:solidFill>
                  <a:schemeClr val="lt1"/>
                </a:solidFill>
                <a:latin typeface="Times New Roman"/>
                <a:ea typeface="Times New Roman"/>
                <a:cs typeface="Times New Roman"/>
                <a:sym typeface="Times New Roman"/>
              </a:defRPr>
            </a:lvl7pPr>
            <a:lvl8pPr marL="59689" lvl="7" indent="0">
              <a:lnSpc>
                <a:spcPct val="118206"/>
              </a:lnSpc>
              <a:spcBef>
                <a:spcPts val="0"/>
              </a:spcBef>
              <a:buNone/>
              <a:defRPr sz="1450" b="0" i="0">
                <a:solidFill>
                  <a:schemeClr val="lt1"/>
                </a:solidFill>
                <a:latin typeface="Times New Roman"/>
                <a:ea typeface="Times New Roman"/>
                <a:cs typeface="Times New Roman"/>
                <a:sym typeface="Times New Roman"/>
              </a:defRPr>
            </a:lvl8pPr>
            <a:lvl9pPr marL="59689" lvl="8" indent="0">
              <a:lnSpc>
                <a:spcPct val="118206"/>
              </a:lnSpc>
              <a:spcBef>
                <a:spcPts val="0"/>
              </a:spcBef>
              <a:buNone/>
              <a:defRPr sz="1450" b="0" i="0">
                <a:solidFill>
                  <a:schemeClr val="lt1"/>
                </a:solidFill>
                <a:latin typeface="Times New Roman"/>
                <a:ea typeface="Times New Roman"/>
                <a:cs typeface="Times New Roman"/>
                <a:sym typeface="Times New Roman"/>
              </a:defRPr>
            </a:lvl9pPr>
          </a:lstStyle>
          <a:p>
            <a:pPr marL="59689" lvl="0" indent="0" algn="l" rtl="0">
              <a:spcBef>
                <a:spcPts val="0"/>
              </a:spcBef>
              <a:spcAft>
                <a:spcPts val="0"/>
              </a:spcAft>
              <a:buNone/>
            </a:pPr>
            <a:fld id="{00000000-1234-1234-1234-123412341234}" type="slidenum">
              <a:rPr lang="en-US"/>
              <a:t>‹#›</a:t>
            </a:fld>
            <a:r>
              <a:rPr lang="en-US" dirty="0"/>
              <a:t> </a:t>
            </a:r>
            <a:r>
              <a:rPr lang="en-US"/>
              <a:t>/ 28</a:t>
            </a:r>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13943" y="6256020"/>
            <a:ext cx="3144520" cy="303530"/>
          </a:xfrm>
          <a:custGeom>
            <a:avLst/>
            <a:gdLst/>
            <a:ahLst/>
            <a:cxnLst/>
            <a:rect l="l" t="t" r="r" b="b"/>
            <a:pathLst>
              <a:path w="3144520" h="303529" extrusionOk="0">
                <a:moveTo>
                  <a:pt x="3144012" y="303276"/>
                </a:moveTo>
                <a:lnTo>
                  <a:pt x="0" y="303276"/>
                </a:lnTo>
                <a:lnTo>
                  <a:pt x="0" y="0"/>
                </a:lnTo>
                <a:lnTo>
                  <a:pt x="3144012" y="0"/>
                </a:lnTo>
                <a:lnTo>
                  <a:pt x="3144012" y="303276"/>
                </a:lnTo>
                <a:close/>
              </a:path>
            </a:pathLst>
          </a:custGeom>
          <a:solidFill>
            <a:srgbClr val="1818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 name="Google Shape;7;p1"/>
          <p:cNvSpPr/>
          <p:nvPr/>
        </p:nvSpPr>
        <p:spPr>
          <a:xfrm>
            <a:off x="3457956" y="6256020"/>
            <a:ext cx="3144520" cy="303530"/>
          </a:xfrm>
          <a:custGeom>
            <a:avLst/>
            <a:gdLst/>
            <a:ahLst/>
            <a:cxnLst/>
            <a:rect l="l" t="t" r="r" b="b"/>
            <a:pathLst>
              <a:path w="3144520" h="303529" extrusionOk="0">
                <a:moveTo>
                  <a:pt x="3144011" y="303276"/>
                </a:moveTo>
                <a:lnTo>
                  <a:pt x="0" y="303276"/>
                </a:lnTo>
                <a:lnTo>
                  <a:pt x="0" y="0"/>
                </a:lnTo>
                <a:lnTo>
                  <a:pt x="3144011" y="0"/>
                </a:lnTo>
                <a:lnTo>
                  <a:pt x="3144011" y="303276"/>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 name="Google Shape;8;p1"/>
          <p:cNvSpPr/>
          <p:nvPr/>
        </p:nvSpPr>
        <p:spPr>
          <a:xfrm>
            <a:off x="6601968" y="6256020"/>
            <a:ext cx="3144520" cy="303530"/>
          </a:xfrm>
          <a:custGeom>
            <a:avLst/>
            <a:gdLst/>
            <a:ahLst/>
            <a:cxnLst/>
            <a:rect l="l" t="t" r="r" b="b"/>
            <a:pathLst>
              <a:path w="3144520" h="303529" extrusionOk="0">
                <a:moveTo>
                  <a:pt x="3144012" y="303276"/>
                </a:moveTo>
                <a:lnTo>
                  <a:pt x="0" y="303276"/>
                </a:lnTo>
                <a:lnTo>
                  <a:pt x="0" y="0"/>
                </a:lnTo>
                <a:lnTo>
                  <a:pt x="3144012" y="0"/>
                </a:lnTo>
                <a:lnTo>
                  <a:pt x="3144012" y="303276"/>
                </a:lnTo>
                <a:close/>
              </a:path>
            </a:pathLst>
          </a:custGeom>
          <a:solidFill>
            <a:srgbClr val="3333B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 name="Google Shape;9;p1"/>
          <p:cNvSpPr/>
          <p:nvPr/>
        </p:nvSpPr>
        <p:spPr>
          <a:xfrm>
            <a:off x="0" y="1066800"/>
            <a:ext cx="10058400" cy="544195"/>
          </a:xfrm>
          <a:custGeom>
            <a:avLst/>
            <a:gdLst/>
            <a:ahLst/>
            <a:cxnLst/>
            <a:rect l="l" t="t" r="r" b="b"/>
            <a:pathLst>
              <a:path w="10058400" h="544194" extrusionOk="0">
                <a:moveTo>
                  <a:pt x="10058400" y="544067"/>
                </a:moveTo>
                <a:lnTo>
                  <a:pt x="0" y="544067"/>
                </a:lnTo>
                <a:lnTo>
                  <a:pt x="0" y="0"/>
                </a:lnTo>
                <a:lnTo>
                  <a:pt x="10058400" y="0"/>
                </a:lnTo>
                <a:lnTo>
                  <a:pt x="10058400" y="544067"/>
                </a:lnTo>
                <a:close/>
              </a:path>
            </a:pathLst>
          </a:custGeom>
          <a:solidFill>
            <a:srgbClr val="3333B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 name="Google Shape;10;p1"/>
          <p:cNvSpPr txBox="1">
            <a:spLocks noGrp="1"/>
          </p:cNvSpPr>
          <p:nvPr>
            <p:ph type="title"/>
          </p:nvPr>
        </p:nvSpPr>
        <p:spPr>
          <a:xfrm>
            <a:off x="741736" y="1028089"/>
            <a:ext cx="8574926" cy="57975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95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5104637" y="2385822"/>
            <a:ext cx="4243070" cy="284416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6652604" y="6273095"/>
            <a:ext cx="13220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
          <p:cNvSpPr txBox="1">
            <a:spLocks noGrp="1"/>
          </p:cNvSpPr>
          <p:nvPr>
            <p:ph type="dt" idx="10"/>
          </p:nvPr>
        </p:nvSpPr>
        <p:spPr>
          <a:xfrm>
            <a:off x="3634651" y="6273095"/>
            <a:ext cx="2223770" cy="40259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45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1"/>
          <p:cNvSpPr txBox="1">
            <a:spLocks noGrp="1"/>
          </p:cNvSpPr>
          <p:nvPr>
            <p:ph type="sldNum" idx="12"/>
          </p:nvPr>
        </p:nvSpPr>
        <p:spPr>
          <a:xfrm>
            <a:off x="9150872" y="6273095"/>
            <a:ext cx="543813" cy="245561"/>
          </a:xfrm>
          <a:prstGeom prst="rect">
            <a:avLst/>
          </a:prstGeom>
          <a:noFill/>
          <a:ln>
            <a:noFill/>
          </a:ln>
        </p:spPr>
        <p:txBody>
          <a:bodyPr spcFirstLastPara="1" wrap="square" lIns="0" tIns="0" rIns="0" bIns="0" anchor="t" anchorCtr="0">
            <a:spAutoFit/>
          </a:bodyPr>
          <a:lstStyle>
            <a:lvl1pPr marL="59689" lvl="0" indent="0">
              <a:lnSpc>
                <a:spcPct val="118206"/>
              </a:lnSpc>
              <a:spcBef>
                <a:spcPts val="0"/>
              </a:spcBef>
              <a:buNone/>
              <a:defRPr sz="1450" b="0" i="0">
                <a:solidFill>
                  <a:schemeClr val="lt1"/>
                </a:solidFill>
                <a:latin typeface="Times New Roman"/>
                <a:ea typeface="Times New Roman"/>
                <a:cs typeface="Times New Roman"/>
                <a:sym typeface="Times New Roman"/>
              </a:defRPr>
            </a:lvl1pPr>
            <a:lvl2pPr marL="59689" lvl="1" indent="0">
              <a:lnSpc>
                <a:spcPct val="118206"/>
              </a:lnSpc>
              <a:spcBef>
                <a:spcPts val="0"/>
              </a:spcBef>
              <a:buNone/>
              <a:defRPr sz="1450" b="0" i="0">
                <a:solidFill>
                  <a:schemeClr val="lt1"/>
                </a:solidFill>
                <a:latin typeface="Times New Roman"/>
                <a:ea typeface="Times New Roman"/>
                <a:cs typeface="Times New Roman"/>
                <a:sym typeface="Times New Roman"/>
              </a:defRPr>
            </a:lvl2pPr>
            <a:lvl3pPr marL="59689" lvl="2" indent="0">
              <a:lnSpc>
                <a:spcPct val="118206"/>
              </a:lnSpc>
              <a:spcBef>
                <a:spcPts val="0"/>
              </a:spcBef>
              <a:buNone/>
              <a:defRPr sz="1450" b="0" i="0">
                <a:solidFill>
                  <a:schemeClr val="lt1"/>
                </a:solidFill>
                <a:latin typeface="Times New Roman"/>
                <a:ea typeface="Times New Roman"/>
                <a:cs typeface="Times New Roman"/>
                <a:sym typeface="Times New Roman"/>
              </a:defRPr>
            </a:lvl3pPr>
            <a:lvl4pPr marL="59689" lvl="3" indent="0">
              <a:lnSpc>
                <a:spcPct val="118206"/>
              </a:lnSpc>
              <a:spcBef>
                <a:spcPts val="0"/>
              </a:spcBef>
              <a:buNone/>
              <a:defRPr sz="1450" b="0" i="0">
                <a:solidFill>
                  <a:schemeClr val="lt1"/>
                </a:solidFill>
                <a:latin typeface="Times New Roman"/>
                <a:ea typeface="Times New Roman"/>
                <a:cs typeface="Times New Roman"/>
                <a:sym typeface="Times New Roman"/>
              </a:defRPr>
            </a:lvl4pPr>
            <a:lvl5pPr marL="59689" lvl="4" indent="0">
              <a:lnSpc>
                <a:spcPct val="118206"/>
              </a:lnSpc>
              <a:spcBef>
                <a:spcPts val="0"/>
              </a:spcBef>
              <a:buNone/>
              <a:defRPr sz="1450" b="0" i="0">
                <a:solidFill>
                  <a:schemeClr val="lt1"/>
                </a:solidFill>
                <a:latin typeface="Times New Roman"/>
                <a:ea typeface="Times New Roman"/>
                <a:cs typeface="Times New Roman"/>
                <a:sym typeface="Times New Roman"/>
              </a:defRPr>
            </a:lvl5pPr>
            <a:lvl6pPr marL="59689" lvl="5" indent="0">
              <a:lnSpc>
                <a:spcPct val="118206"/>
              </a:lnSpc>
              <a:spcBef>
                <a:spcPts val="0"/>
              </a:spcBef>
              <a:buNone/>
              <a:defRPr sz="1450" b="0" i="0">
                <a:solidFill>
                  <a:schemeClr val="lt1"/>
                </a:solidFill>
                <a:latin typeface="Times New Roman"/>
                <a:ea typeface="Times New Roman"/>
                <a:cs typeface="Times New Roman"/>
                <a:sym typeface="Times New Roman"/>
              </a:defRPr>
            </a:lvl6pPr>
            <a:lvl7pPr marL="59689" lvl="6" indent="0">
              <a:lnSpc>
                <a:spcPct val="118206"/>
              </a:lnSpc>
              <a:spcBef>
                <a:spcPts val="0"/>
              </a:spcBef>
              <a:buNone/>
              <a:defRPr sz="1450" b="0" i="0">
                <a:solidFill>
                  <a:schemeClr val="lt1"/>
                </a:solidFill>
                <a:latin typeface="Times New Roman"/>
                <a:ea typeface="Times New Roman"/>
                <a:cs typeface="Times New Roman"/>
                <a:sym typeface="Times New Roman"/>
              </a:defRPr>
            </a:lvl7pPr>
            <a:lvl8pPr marL="59689" lvl="7" indent="0">
              <a:lnSpc>
                <a:spcPct val="118206"/>
              </a:lnSpc>
              <a:spcBef>
                <a:spcPts val="0"/>
              </a:spcBef>
              <a:buNone/>
              <a:defRPr sz="1450" b="0" i="0">
                <a:solidFill>
                  <a:schemeClr val="lt1"/>
                </a:solidFill>
                <a:latin typeface="Times New Roman"/>
                <a:ea typeface="Times New Roman"/>
                <a:cs typeface="Times New Roman"/>
                <a:sym typeface="Times New Roman"/>
              </a:defRPr>
            </a:lvl8pPr>
            <a:lvl9pPr marL="59689" lvl="8" indent="0">
              <a:lnSpc>
                <a:spcPct val="118206"/>
              </a:lnSpc>
              <a:spcBef>
                <a:spcPts val="0"/>
              </a:spcBef>
              <a:buNone/>
              <a:defRPr sz="1450" b="0" i="0">
                <a:solidFill>
                  <a:schemeClr val="lt1"/>
                </a:solidFill>
                <a:latin typeface="Times New Roman"/>
                <a:ea typeface="Times New Roman"/>
                <a:cs typeface="Times New Roman"/>
                <a:sym typeface="Times New Roman"/>
              </a:defRPr>
            </a:lvl9pPr>
          </a:lstStyle>
          <a:p>
            <a:pPr marL="59689" lvl="0" indent="0" algn="l" rtl="0">
              <a:spcBef>
                <a:spcPts val="0"/>
              </a:spcBef>
              <a:spcAft>
                <a:spcPts val="0"/>
              </a:spcAft>
              <a:buNone/>
            </a:pPr>
            <a:fld id="{00000000-1234-1234-1234-123412341234}" type="slidenum">
              <a:rPr lang="en-US"/>
              <a:t>‹#›</a:t>
            </a:fld>
            <a:r>
              <a:rPr lang="en-US" dirty="0"/>
              <a:t> </a:t>
            </a:r>
            <a:r>
              <a:rPr lang="en-US"/>
              <a:t>/ 28</a:t>
            </a:r>
            <a:endParaRPr sz="14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https://worditout.com/word-cloud/977350" TargetMode="External"/><Relationship Id="rId4"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6"/>
        <p:cNvGrpSpPr/>
        <p:nvPr/>
      </p:nvGrpSpPr>
      <p:grpSpPr>
        <a:xfrm>
          <a:off x="0" y="0"/>
          <a:ext cx="0" cy="0"/>
          <a:chOff x="0" y="0"/>
          <a:chExt cx="0" cy="0"/>
        </a:xfrm>
      </p:grpSpPr>
      <p:sp>
        <p:nvSpPr>
          <p:cNvPr id="48" name="Google Shape;48;p7"/>
          <p:cNvSpPr txBox="1"/>
          <p:nvPr/>
        </p:nvSpPr>
        <p:spPr>
          <a:xfrm>
            <a:off x="2329806" y="5103198"/>
            <a:ext cx="5398788" cy="1108060"/>
          </a:xfrm>
          <a:prstGeom prst="rect">
            <a:avLst/>
          </a:prstGeom>
          <a:noFill/>
          <a:ln>
            <a:noFill/>
          </a:ln>
        </p:spPr>
        <p:txBody>
          <a:bodyPr spcFirstLastPara="1" wrap="square" lIns="0" tIns="41275" rIns="0" bIns="0" anchor="t" anchorCtr="0">
            <a:spAutoFit/>
          </a:bodyPr>
          <a:lstStyle/>
          <a:p>
            <a:pPr marL="12700" marR="5080" lvl="0" indent="-2539" algn="ctr" rtl="0">
              <a:lnSpc>
                <a:spcPct val="91600"/>
              </a:lnSpc>
              <a:spcBef>
                <a:spcPts val="0"/>
              </a:spcBef>
              <a:spcAft>
                <a:spcPts val="0"/>
              </a:spcAft>
              <a:buNone/>
            </a:pPr>
            <a:r>
              <a:rPr lang="en-US" sz="1800" dirty="0">
                <a:latin typeface="Times New Roman"/>
                <a:ea typeface="Times New Roman"/>
                <a:cs typeface="Times New Roman"/>
                <a:sym typeface="Times New Roman"/>
              </a:rPr>
              <a:t>PES Modern College of Engineering</a:t>
            </a:r>
          </a:p>
          <a:p>
            <a:pPr marL="12700" marR="5080" lvl="0" indent="-2539" algn="ctr" rtl="0">
              <a:lnSpc>
                <a:spcPct val="91600"/>
              </a:lnSpc>
              <a:spcBef>
                <a:spcPts val="0"/>
              </a:spcBef>
              <a:spcAft>
                <a:spcPts val="0"/>
              </a:spcAft>
              <a:buNone/>
            </a:pPr>
            <a:r>
              <a:rPr lang="en-US" sz="1800" dirty="0">
                <a:latin typeface="Times New Roman"/>
                <a:ea typeface="Times New Roman"/>
                <a:cs typeface="Times New Roman"/>
                <a:sym typeface="Times New Roman"/>
              </a:rPr>
              <a:t>Department of Computer Engineering</a:t>
            </a:r>
          </a:p>
          <a:p>
            <a:pPr marL="12700" marR="5080" lvl="0" indent="-2539" algn="ctr" rtl="0">
              <a:lnSpc>
                <a:spcPct val="91600"/>
              </a:lnSpc>
              <a:spcBef>
                <a:spcPts val="0"/>
              </a:spcBef>
              <a:spcAft>
                <a:spcPts val="0"/>
              </a:spcAft>
              <a:buNone/>
            </a:pPr>
            <a:r>
              <a:rPr lang="en-US" sz="1800" dirty="0">
                <a:latin typeface="Times New Roman"/>
                <a:ea typeface="Times New Roman"/>
                <a:cs typeface="Times New Roman"/>
                <a:sym typeface="Times New Roman"/>
              </a:rPr>
              <a:t>Savitribai Phule Pune University</a:t>
            </a:r>
            <a:endParaRPr sz="1800" dirty="0">
              <a:latin typeface="Times New Roman"/>
              <a:ea typeface="Times New Roman"/>
              <a:cs typeface="Times New Roman"/>
              <a:sym typeface="Times New Roman"/>
            </a:endParaRPr>
          </a:p>
          <a:p>
            <a:pPr marL="0" lvl="0" indent="0" algn="ctr" rtl="0">
              <a:lnSpc>
                <a:spcPct val="109487"/>
              </a:lnSpc>
              <a:spcBef>
                <a:spcPts val="0"/>
              </a:spcBef>
              <a:spcAft>
                <a:spcPts val="0"/>
              </a:spcAft>
              <a:buNone/>
            </a:pPr>
            <a:r>
              <a:rPr lang="en-US" sz="1800" dirty="0">
                <a:latin typeface="Times New Roman"/>
                <a:ea typeface="Times New Roman"/>
                <a:cs typeface="Times New Roman"/>
                <a:sym typeface="Times New Roman"/>
              </a:rPr>
              <a:t>25-February-2026</a:t>
            </a:r>
            <a:endParaRPr sz="1800" dirty="0">
              <a:latin typeface="Times New Roman"/>
              <a:ea typeface="Times New Roman"/>
              <a:cs typeface="Times New Roman"/>
              <a:sym typeface="Times New Roman"/>
            </a:endParaRPr>
          </a:p>
        </p:txBody>
      </p:sp>
      <p:pic>
        <p:nvPicPr>
          <p:cNvPr id="49" name="Google Shape;49;p7"/>
          <p:cNvPicPr preferRelativeResize="0"/>
          <p:nvPr/>
        </p:nvPicPr>
        <p:blipFill rotWithShape="1">
          <a:blip r:embed="rId3">
            <a:alphaModFix/>
          </a:blip>
          <a:srcRect/>
          <a:stretch/>
        </p:blipFill>
        <p:spPr>
          <a:xfrm>
            <a:off x="4431221" y="3571501"/>
            <a:ext cx="1195958" cy="1403661"/>
          </a:xfrm>
          <a:prstGeom prst="rect">
            <a:avLst/>
          </a:prstGeom>
          <a:noFill/>
          <a:ln>
            <a:noFill/>
          </a:ln>
        </p:spPr>
      </p:pic>
      <p:sp>
        <p:nvSpPr>
          <p:cNvPr id="50" name="Google Shape;50;p7"/>
          <p:cNvSpPr/>
          <p:nvPr/>
        </p:nvSpPr>
        <p:spPr>
          <a:xfrm>
            <a:off x="631818" y="1258606"/>
            <a:ext cx="8794764" cy="1038262"/>
          </a:xfrm>
          <a:custGeom>
            <a:avLst/>
            <a:gdLst/>
            <a:ahLst/>
            <a:cxnLst/>
            <a:rect l="l" t="t" r="r" b="b"/>
            <a:pathLst>
              <a:path w="7382509" h="889000" extrusionOk="0">
                <a:moveTo>
                  <a:pt x="7382269" y="149339"/>
                </a:moveTo>
                <a:lnTo>
                  <a:pt x="7382256" y="91440"/>
                </a:lnTo>
                <a:lnTo>
                  <a:pt x="7376160" y="56388"/>
                </a:lnTo>
                <a:lnTo>
                  <a:pt x="7357872" y="27432"/>
                </a:lnTo>
                <a:lnTo>
                  <a:pt x="7330440" y="7620"/>
                </a:lnTo>
                <a:lnTo>
                  <a:pt x="7298436" y="0"/>
                </a:lnTo>
                <a:lnTo>
                  <a:pt x="85344" y="0"/>
                </a:lnTo>
                <a:lnTo>
                  <a:pt x="51816" y="7620"/>
                </a:lnTo>
                <a:lnTo>
                  <a:pt x="24384" y="27432"/>
                </a:lnTo>
                <a:lnTo>
                  <a:pt x="7620" y="56388"/>
                </a:lnTo>
                <a:lnTo>
                  <a:pt x="0" y="91440"/>
                </a:lnTo>
                <a:lnTo>
                  <a:pt x="0" y="149352"/>
                </a:lnTo>
                <a:lnTo>
                  <a:pt x="12" y="795515"/>
                </a:lnTo>
                <a:lnTo>
                  <a:pt x="7632" y="832091"/>
                </a:lnTo>
                <a:lnTo>
                  <a:pt x="24396" y="861047"/>
                </a:lnTo>
                <a:lnTo>
                  <a:pt x="51828" y="880872"/>
                </a:lnTo>
                <a:lnTo>
                  <a:pt x="85356" y="888479"/>
                </a:lnTo>
                <a:lnTo>
                  <a:pt x="7298449" y="888479"/>
                </a:lnTo>
                <a:lnTo>
                  <a:pt x="7330453" y="880872"/>
                </a:lnTo>
                <a:lnTo>
                  <a:pt x="7357885" y="861047"/>
                </a:lnTo>
                <a:lnTo>
                  <a:pt x="7376173" y="832091"/>
                </a:lnTo>
                <a:lnTo>
                  <a:pt x="7382269" y="795515"/>
                </a:lnTo>
                <a:lnTo>
                  <a:pt x="7382269" y="149339"/>
                </a:lnTo>
                <a:close/>
              </a:path>
            </a:pathLst>
          </a:custGeom>
          <a:solidFill>
            <a:srgbClr val="3333B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51" name="Google Shape;51;p7"/>
          <p:cNvSpPr txBox="1">
            <a:spLocks noGrp="1"/>
          </p:cNvSpPr>
          <p:nvPr>
            <p:ph type="title"/>
          </p:nvPr>
        </p:nvSpPr>
        <p:spPr>
          <a:xfrm>
            <a:off x="631818" y="1463990"/>
            <a:ext cx="8794764" cy="530463"/>
          </a:xfrm>
          <a:prstGeom prst="rect">
            <a:avLst/>
          </a:prstGeom>
          <a:noFill/>
          <a:ln>
            <a:noFill/>
          </a:ln>
        </p:spPr>
        <p:txBody>
          <a:bodyPr spcFirstLastPara="1" wrap="square" lIns="0" tIns="11425" rIns="0" bIns="0" anchor="t" anchorCtr="0">
            <a:normAutofit fontScale="90000"/>
          </a:bodyPr>
          <a:lstStyle/>
          <a:p>
            <a:pPr lvl="0" algn="ctr"/>
            <a:r>
              <a:rPr lang="en-US" sz="2800" dirty="0">
                <a:latin typeface="Times New Roman" panose="02020603050405020304" pitchFamily="18" charset="0"/>
                <a:cs typeface="Times New Roman" panose="02020603050405020304" pitchFamily="18" charset="0"/>
              </a:rPr>
              <a:t>AI-Driven Predictive Maintenance System for Industrial Equipment</a:t>
            </a:r>
            <a:endParaRPr sz="2800" dirty="0">
              <a:latin typeface="Times New Roman" panose="02020603050405020304" pitchFamily="18" charset="0"/>
              <a:ea typeface="Times New Roman"/>
              <a:cs typeface="Times New Roman" panose="02020603050405020304" pitchFamily="18" charset="0"/>
              <a:sym typeface="Times New Roman"/>
            </a:endParaRPr>
          </a:p>
        </p:txBody>
      </p:sp>
      <p:grpSp>
        <p:nvGrpSpPr>
          <p:cNvPr id="52" name="Google Shape;52;p7"/>
          <p:cNvGrpSpPr/>
          <p:nvPr/>
        </p:nvGrpSpPr>
        <p:grpSpPr>
          <a:xfrm>
            <a:off x="313181" y="6249795"/>
            <a:ext cx="9432544" cy="303530"/>
            <a:chOff x="313943" y="6256020"/>
            <a:chExt cx="9432544" cy="303530"/>
          </a:xfrm>
        </p:grpSpPr>
        <p:sp>
          <p:nvSpPr>
            <p:cNvPr id="53" name="Google Shape;53;p7"/>
            <p:cNvSpPr/>
            <p:nvPr/>
          </p:nvSpPr>
          <p:spPr>
            <a:xfrm>
              <a:off x="313943" y="6256020"/>
              <a:ext cx="3144520" cy="303530"/>
            </a:xfrm>
            <a:custGeom>
              <a:avLst/>
              <a:gdLst/>
              <a:ahLst/>
              <a:cxnLst/>
              <a:rect l="l" t="t" r="r" b="b"/>
              <a:pathLst>
                <a:path w="3144520" h="303529" extrusionOk="0">
                  <a:moveTo>
                    <a:pt x="3144012" y="303276"/>
                  </a:moveTo>
                  <a:lnTo>
                    <a:pt x="0" y="303276"/>
                  </a:lnTo>
                  <a:lnTo>
                    <a:pt x="0" y="0"/>
                  </a:lnTo>
                  <a:lnTo>
                    <a:pt x="3144012" y="0"/>
                  </a:lnTo>
                  <a:lnTo>
                    <a:pt x="3144012" y="303276"/>
                  </a:lnTo>
                  <a:close/>
                </a:path>
              </a:pathLst>
            </a:custGeom>
            <a:solidFill>
              <a:srgbClr val="1818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4" name="Google Shape;54;p7"/>
            <p:cNvSpPr/>
            <p:nvPr/>
          </p:nvSpPr>
          <p:spPr>
            <a:xfrm>
              <a:off x="3457956" y="6256020"/>
              <a:ext cx="3144520" cy="303530"/>
            </a:xfrm>
            <a:custGeom>
              <a:avLst/>
              <a:gdLst/>
              <a:ahLst/>
              <a:cxnLst/>
              <a:rect l="l" t="t" r="r" b="b"/>
              <a:pathLst>
                <a:path w="3144520" h="303529" extrusionOk="0">
                  <a:moveTo>
                    <a:pt x="3144011" y="303276"/>
                  </a:moveTo>
                  <a:lnTo>
                    <a:pt x="0" y="303276"/>
                  </a:lnTo>
                  <a:lnTo>
                    <a:pt x="0" y="0"/>
                  </a:lnTo>
                  <a:lnTo>
                    <a:pt x="3144011" y="0"/>
                  </a:lnTo>
                  <a:lnTo>
                    <a:pt x="3144011" y="303276"/>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 name="Google Shape;55;p7"/>
            <p:cNvSpPr/>
            <p:nvPr/>
          </p:nvSpPr>
          <p:spPr>
            <a:xfrm>
              <a:off x="6601967" y="6256020"/>
              <a:ext cx="3144520" cy="303530"/>
            </a:xfrm>
            <a:custGeom>
              <a:avLst/>
              <a:gdLst/>
              <a:ahLst/>
              <a:cxnLst/>
              <a:rect l="l" t="t" r="r" b="b"/>
              <a:pathLst>
                <a:path w="3144520" h="303529" extrusionOk="0">
                  <a:moveTo>
                    <a:pt x="3144012" y="303276"/>
                  </a:moveTo>
                  <a:lnTo>
                    <a:pt x="0" y="303276"/>
                  </a:lnTo>
                  <a:lnTo>
                    <a:pt x="0" y="0"/>
                  </a:lnTo>
                  <a:lnTo>
                    <a:pt x="3144012" y="0"/>
                  </a:lnTo>
                  <a:lnTo>
                    <a:pt x="3144012" y="303276"/>
                  </a:lnTo>
                  <a:close/>
                </a:path>
              </a:pathLst>
            </a:custGeom>
            <a:solidFill>
              <a:srgbClr val="3333B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6" name="Google Shape;56;p7"/>
          <p:cNvSpPr/>
          <p:nvPr/>
        </p:nvSpPr>
        <p:spPr>
          <a:xfrm>
            <a:off x="80010" y="1132202"/>
            <a:ext cx="9898380" cy="5507990"/>
          </a:xfrm>
          <a:custGeom>
            <a:avLst/>
            <a:gdLst/>
            <a:ahLst/>
            <a:cxnLst/>
            <a:rect l="l" t="t" r="r" b="b"/>
            <a:pathLst>
              <a:path w="9898380" h="5507990" extrusionOk="0">
                <a:moveTo>
                  <a:pt x="9896856" y="5507736"/>
                </a:moveTo>
                <a:lnTo>
                  <a:pt x="1524" y="5507736"/>
                </a:lnTo>
                <a:lnTo>
                  <a:pt x="0" y="5506212"/>
                </a:lnTo>
                <a:lnTo>
                  <a:pt x="0" y="1524"/>
                </a:lnTo>
                <a:lnTo>
                  <a:pt x="1524" y="0"/>
                </a:lnTo>
                <a:lnTo>
                  <a:pt x="9896856" y="0"/>
                </a:lnTo>
                <a:lnTo>
                  <a:pt x="9898379" y="1524"/>
                </a:lnTo>
                <a:lnTo>
                  <a:pt x="9898379" y="3048"/>
                </a:lnTo>
                <a:lnTo>
                  <a:pt x="7620" y="3048"/>
                </a:lnTo>
                <a:lnTo>
                  <a:pt x="3048" y="7620"/>
                </a:lnTo>
                <a:lnTo>
                  <a:pt x="7620" y="7620"/>
                </a:lnTo>
                <a:lnTo>
                  <a:pt x="7620" y="5500116"/>
                </a:lnTo>
                <a:lnTo>
                  <a:pt x="3048" y="5500116"/>
                </a:lnTo>
                <a:lnTo>
                  <a:pt x="7620" y="5504687"/>
                </a:lnTo>
                <a:lnTo>
                  <a:pt x="9898379" y="5504687"/>
                </a:lnTo>
                <a:lnTo>
                  <a:pt x="9898379" y="5506212"/>
                </a:lnTo>
                <a:lnTo>
                  <a:pt x="9896856" y="5507736"/>
                </a:lnTo>
                <a:close/>
              </a:path>
              <a:path w="9898380" h="5507990" extrusionOk="0">
                <a:moveTo>
                  <a:pt x="7620" y="7620"/>
                </a:moveTo>
                <a:lnTo>
                  <a:pt x="3048" y="7620"/>
                </a:lnTo>
                <a:lnTo>
                  <a:pt x="7620" y="3048"/>
                </a:lnTo>
                <a:lnTo>
                  <a:pt x="7620" y="7620"/>
                </a:lnTo>
                <a:close/>
              </a:path>
              <a:path w="9898380" h="5507990" extrusionOk="0">
                <a:moveTo>
                  <a:pt x="9890760" y="7620"/>
                </a:moveTo>
                <a:lnTo>
                  <a:pt x="7620" y="7620"/>
                </a:lnTo>
                <a:lnTo>
                  <a:pt x="7620" y="3048"/>
                </a:lnTo>
                <a:lnTo>
                  <a:pt x="9890760" y="3048"/>
                </a:lnTo>
                <a:lnTo>
                  <a:pt x="9890760" y="7620"/>
                </a:lnTo>
                <a:close/>
              </a:path>
              <a:path w="9898380" h="5507990" extrusionOk="0">
                <a:moveTo>
                  <a:pt x="9890760" y="5504687"/>
                </a:moveTo>
                <a:lnTo>
                  <a:pt x="9890760" y="3048"/>
                </a:lnTo>
                <a:lnTo>
                  <a:pt x="9893808" y="7620"/>
                </a:lnTo>
                <a:lnTo>
                  <a:pt x="9898379" y="7620"/>
                </a:lnTo>
                <a:lnTo>
                  <a:pt x="9898379" y="5500116"/>
                </a:lnTo>
                <a:lnTo>
                  <a:pt x="9893808" y="5500116"/>
                </a:lnTo>
                <a:lnTo>
                  <a:pt x="9890760" y="5504687"/>
                </a:lnTo>
                <a:close/>
              </a:path>
              <a:path w="9898380" h="5507990" extrusionOk="0">
                <a:moveTo>
                  <a:pt x="9898379" y="7620"/>
                </a:moveTo>
                <a:lnTo>
                  <a:pt x="9893808" y="7620"/>
                </a:lnTo>
                <a:lnTo>
                  <a:pt x="9890760" y="3048"/>
                </a:lnTo>
                <a:lnTo>
                  <a:pt x="9898379" y="3048"/>
                </a:lnTo>
                <a:lnTo>
                  <a:pt x="9898379" y="7620"/>
                </a:lnTo>
                <a:close/>
              </a:path>
              <a:path w="9898380" h="5507990" extrusionOk="0">
                <a:moveTo>
                  <a:pt x="7620" y="5504687"/>
                </a:moveTo>
                <a:lnTo>
                  <a:pt x="3048" y="5500116"/>
                </a:lnTo>
                <a:lnTo>
                  <a:pt x="7620" y="5500116"/>
                </a:lnTo>
                <a:lnTo>
                  <a:pt x="7620" y="5504687"/>
                </a:lnTo>
                <a:close/>
              </a:path>
              <a:path w="9898380" h="5507990" extrusionOk="0">
                <a:moveTo>
                  <a:pt x="9890760" y="5504687"/>
                </a:moveTo>
                <a:lnTo>
                  <a:pt x="7620" y="5504687"/>
                </a:lnTo>
                <a:lnTo>
                  <a:pt x="7620" y="5500116"/>
                </a:lnTo>
                <a:lnTo>
                  <a:pt x="9890760" y="5500116"/>
                </a:lnTo>
                <a:lnTo>
                  <a:pt x="9890760" y="5504687"/>
                </a:lnTo>
                <a:close/>
              </a:path>
              <a:path w="9898380" h="5507990" extrusionOk="0">
                <a:moveTo>
                  <a:pt x="9898379" y="5504687"/>
                </a:moveTo>
                <a:lnTo>
                  <a:pt x="9890760" y="5504687"/>
                </a:lnTo>
                <a:lnTo>
                  <a:pt x="9893808" y="5500116"/>
                </a:lnTo>
                <a:lnTo>
                  <a:pt x="9898379" y="5500116"/>
                </a:lnTo>
                <a:lnTo>
                  <a:pt x="9898379" y="5504687"/>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7" name="Google Shape;57;p7"/>
          <p:cNvSpPr txBox="1"/>
          <p:nvPr/>
        </p:nvSpPr>
        <p:spPr>
          <a:xfrm>
            <a:off x="615936" y="6266870"/>
            <a:ext cx="2369100" cy="22320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58" name="Google Shape;58;p7"/>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59" name="Google Shape;59;p7"/>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
        <p:nvSpPr>
          <p:cNvPr id="60" name="Google Shape;60;p7"/>
          <p:cNvSpPr txBox="1">
            <a:spLocks noGrp="1"/>
          </p:cNvSpPr>
          <p:nvPr>
            <p:ph type="sldNum" idx="12"/>
          </p:nvPr>
        </p:nvSpPr>
        <p:spPr>
          <a:xfrm>
            <a:off x="9150110" y="6266870"/>
            <a:ext cx="543900"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a:t>
            </a:fld>
            <a:r>
              <a:rPr lang="en-US" dirty="0"/>
              <a:t> </a:t>
            </a:r>
            <a:r>
              <a:rPr lang="en-US"/>
              <a:t>/  28</a:t>
            </a:r>
            <a:endParaRPr lang="en-US" dirty="0"/>
          </a:p>
        </p:txBody>
      </p:sp>
      <p:sp>
        <p:nvSpPr>
          <p:cNvPr id="2" name="TextBox 1">
            <a:extLst>
              <a:ext uri="{FF2B5EF4-FFF2-40B4-BE49-F238E27FC236}">
                <a16:creationId xmlns:a16="http://schemas.microsoft.com/office/drawing/2014/main" id="{878BD9E6-DC1E-9EB7-94AA-DF97235A135E}"/>
              </a:ext>
            </a:extLst>
          </p:cNvPr>
          <p:cNvSpPr txBox="1"/>
          <p:nvPr/>
        </p:nvSpPr>
        <p:spPr>
          <a:xfrm>
            <a:off x="2869514" y="1822994"/>
            <a:ext cx="4172521" cy="369332"/>
          </a:xfrm>
          <a:prstGeom prst="rect">
            <a:avLst/>
          </a:prstGeom>
          <a:noFill/>
        </p:spPr>
        <p:txBody>
          <a:bodyPr wrap="square" rtlCol="0">
            <a:spAutoFit/>
          </a:bodyPr>
          <a:lstStyle/>
          <a:p>
            <a:pPr algn="ctr"/>
            <a:r>
              <a:rPr lang="en-IN" sz="1800" dirty="0">
                <a:solidFill>
                  <a:schemeClr val="bg1">
                    <a:lumMod val="75000"/>
                  </a:schemeClr>
                </a:solidFill>
              </a:rPr>
              <a:t>(An AIML Domain Project)</a:t>
            </a:r>
          </a:p>
        </p:txBody>
      </p:sp>
      <p:sp>
        <p:nvSpPr>
          <p:cNvPr id="7" name="TextBox 6">
            <a:extLst>
              <a:ext uri="{FF2B5EF4-FFF2-40B4-BE49-F238E27FC236}">
                <a16:creationId xmlns:a16="http://schemas.microsoft.com/office/drawing/2014/main" id="{DC9CEAFC-2642-E6C4-1D9B-C4BFBADE6557}"/>
              </a:ext>
            </a:extLst>
          </p:cNvPr>
          <p:cNvSpPr txBox="1"/>
          <p:nvPr/>
        </p:nvSpPr>
        <p:spPr>
          <a:xfrm>
            <a:off x="2993731" y="2321631"/>
            <a:ext cx="4070937" cy="1200329"/>
          </a:xfrm>
          <a:prstGeom prst="rect">
            <a:avLst/>
          </a:prstGeom>
          <a:noFill/>
        </p:spPr>
        <p:txBody>
          <a:bodyPr wrap="square" rtlCol="0">
            <a:spAutoFit/>
          </a:bodyPr>
          <a:lstStyle/>
          <a:p>
            <a:pPr algn="ctr"/>
            <a:r>
              <a:rPr lang="en-IN" sz="1800" dirty="0">
                <a:latin typeface="Times New Roman"/>
                <a:cs typeface="Times New Roman"/>
              </a:rPr>
              <a:t>Submitted by,</a:t>
            </a:r>
          </a:p>
          <a:p>
            <a:pPr algn="ctr"/>
            <a:r>
              <a:rPr lang="en-IN" sz="1800" dirty="0">
                <a:latin typeface="Times New Roman"/>
                <a:cs typeface="Times New Roman"/>
              </a:rPr>
              <a:t>Vedant Bhaskar Porje (PRN: 72312326J)</a:t>
            </a:r>
          </a:p>
          <a:p>
            <a:pPr algn="ctr"/>
            <a:r>
              <a:rPr lang="en-IN" sz="1800" dirty="0">
                <a:latin typeface="Times New Roman"/>
                <a:cs typeface="Times New Roman"/>
              </a:rPr>
              <a:t>Under the Guidance of</a:t>
            </a:r>
          </a:p>
          <a:p>
            <a:pPr algn="ctr"/>
            <a:r>
              <a:rPr lang="en-IN" sz="1800" dirty="0">
                <a:latin typeface="Times New Roman"/>
                <a:cs typeface="Times New Roman"/>
              </a:rPr>
              <a:t>Prof. Mrs. Mayuri A. Khade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
          <p:cNvSpPr txBox="1">
            <a:spLocks noGrp="1"/>
          </p:cNvSpPr>
          <p:nvPr>
            <p:ph type="title"/>
          </p:nvPr>
        </p:nvSpPr>
        <p:spPr>
          <a:xfrm>
            <a:off x="741736" y="1028089"/>
            <a:ext cx="8574900" cy="5799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SzPts val="1400"/>
              <a:buNone/>
            </a:pPr>
            <a:r>
              <a:rPr lang="en-US" sz="3600">
                <a:latin typeface="Times New Roman"/>
                <a:ea typeface="Times New Roman"/>
                <a:cs typeface="Times New Roman"/>
                <a:sym typeface="Times New Roman"/>
              </a:rPr>
              <a:t>Outline</a:t>
            </a:r>
            <a:endParaRPr sz="3600">
              <a:latin typeface="Times New Roman"/>
              <a:ea typeface="Times New Roman"/>
              <a:cs typeface="Times New Roman"/>
              <a:sym typeface="Times New Roman"/>
            </a:endParaRPr>
          </a:p>
        </p:txBody>
      </p:sp>
      <p:sp>
        <p:nvSpPr>
          <p:cNvPr id="159" name="Google Shape;159;p1"/>
          <p:cNvSpPr txBox="1"/>
          <p:nvPr/>
        </p:nvSpPr>
        <p:spPr>
          <a:xfrm>
            <a:off x="616698" y="6273095"/>
            <a:ext cx="2369100" cy="234900"/>
          </a:xfrm>
          <a:prstGeom prst="rect">
            <a:avLst/>
          </a:prstGeom>
          <a:noFill/>
          <a:ln>
            <a:noFill/>
          </a:ln>
        </p:spPr>
        <p:txBody>
          <a:bodyPr spcFirstLastPara="1" wrap="square" lIns="0" tIns="0" rIns="0" bIns="0" anchor="t" anchorCtr="0">
            <a:spAutoFit/>
          </a:bodyPr>
          <a:lstStyle/>
          <a:p>
            <a:pPr marL="12700" marR="0" lvl="0" indent="0" algn="l" rtl="0">
              <a:lnSpc>
                <a:spcPct val="118206"/>
              </a:lnSpc>
              <a:spcBef>
                <a:spcPts val="0"/>
              </a:spcBef>
              <a:spcAft>
                <a:spcPts val="0"/>
              </a:spcAft>
              <a:buClr>
                <a:srgbClr val="000000"/>
              </a:buClr>
              <a:buSzPts val="1450"/>
              <a:buFont typeface="Arial"/>
              <a:buNone/>
            </a:pPr>
            <a:r>
              <a:rPr lang="en-US" sz="1450" b="0" i="0" u="none" strike="noStrike" cap="none">
                <a:solidFill>
                  <a:srgbClr val="FFFFFF"/>
                </a:solidFill>
                <a:latin typeface="Times New Roman"/>
                <a:ea typeface="Times New Roman"/>
                <a:cs typeface="Times New Roman"/>
                <a:sym typeface="Times New Roman"/>
              </a:rPr>
              <a:t>Dept of Computer Engineering</a:t>
            </a:r>
            <a:endParaRPr sz="1450" b="0" i="0" u="none" strike="noStrike" cap="none">
              <a:solidFill>
                <a:srgbClr val="000000"/>
              </a:solidFill>
              <a:latin typeface="Times New Roman"/>
              <a:ea typeface="Times New Roman"/>
              <a:cs typeface="Times New Roman"/>
              <a:sym typeface="Times New Roman"/>
            </a:endParaRPr>
          </a:p>
        </p:txBody>
      </p:sp>
      <p:sp>
        <p:nvSpPr>
          <p:cNvPr id="161" name="Google Shape;161;p1"/>
          <p:cNvSpPr txBox="1">
            <a:spLocks noGrp="1"/>
          </p:cNvSpPr>
          <p:nvPr>
            <p:ph type="sldNum" idx="12"/>
          </p:nvPr>
        </p:nvSpPr>
        <p:spPr>
          <a:xfrm>
            <a:off x="9150872" y="6273095"/>
            <a:ext cx="543900" cy="272254"/>
          </a:xfrm>
          <a:prstGeom prst="rect">
            <a:avLst/>
          </a:prstGeom>
          <a:noFill/>
          <a:ln>
            <a:noFill/>
          </a:ln>
        </p:spPr>
        <p:txBody>
          <a:bodyPr spcFirstLastPara="1" wrap="square" lIns="0" tIns="0" rIns="0" bIns="0" anchor="t" anchorCtr="0">
            <a:spAutoFit/>
          </a:bodyPr>
          <a:lstStyle/>
          <a:p>
            <a:pPr marL="59688" lvl="0" indent="0" algn="l" rtl="0">
              <a:lnSpc>
                <a:spcPct val="122428"/>
              </a:lnSpc>
              <a:spcBef>
                <a:spcPts val="0"/>
              </a:spcBef>
              <a:spcAft>
                <a:spcPts val="0"/>
              </a:spcAft>
              <a:buSzPts val="1400"/>
              <a:buNone/>
            </a:pPr>
            <a:fld id="{00000000-1234-1234-1234-123412341234}" type="slidenum">
              <a:rPr lang="en-US"/>
              <a:t>2</a:t>
            </a:fld>
            <a:r>
              <a:rPr lang="en-US" dirty="0"/>
              <a:t> </a:t>
            </a:r>
            <a:r>
              <a:rPr lang="en-US"/>
              <a:t>/  28</a:t>
            </a:r>
            <a:endParaRPr dirty="0"/>
          </a:p>
        </p:txBody>
      </p:sp>
      <p:sp>
        <p:nvSpPr>
          <p:cNvPr id="2" name="TextBox 1">
            <a:extLst>
              <a:ext uri="{FF2B5EF4-FFF2-40B4-BE49-F238E27FC236}">
                <a16:creationId xmlns:a16="http://schemas.microsoft.com/office/drawing/2014/main" id="{75B30D25-8C9C-6B39-E75F-B94387CFB971}"/>
              </a:ext>
            </a:extLst>
          </p:cNvPr>
          <p:cNvSpPr txBox="1"/>
          <p:nvPr/>
        </p:nvSpPr>
        <p:spPr>
          <a:xfrm>
            <a:off x="369188" y="1639613"/>
            <a:ext cx="4659998" cy="3730317"/>
          </a:xfrm>
          <a:prstGeom prst="rect">
            <a:avLst/>
          </a:prstGeom>
          <a:noFill/>
        </p:spPr>
        <p:txBody>
          <a:bodyPr wrap="square" rtlCol="0">
            <a:spAutoFit/>
          </a:bodyPr>
          <a:lstStyle/>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Internship Completion Certificate</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Introduction</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Problem Statement</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Objectives</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Scope</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Project Limitations</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Dataset Description</a:t>
            </a:r>
          </a:p>
          <a:p>
            <a:pPr marL="342900" indent="-342900">
              <a:lnSpc>
                <a:spcPct val="150000"/>
              </a:lnSpc>
              <a:buClr>
                <a:schemeClr val="tx1"/>
              </a:buClr>
              <a:buSzPct val="105000"/>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Technological Details</a:t>
            </a:r>
          </a:p>
        </p:txBody>
      </p:sp>
      <p:sp>
        <p:nvSpPr>
          <p:cNvPr id="3" name="Google Shape;58;p7">
            <a:extLst>
              <a:ext uri="{FF2B5EF4-FFF2-40B4-BE49-F238E27FC236}">
                <a16:creationId xmlns:a16="http://schemas.microsoft.com/office/drawing/2014/main" id="{85EB210D-C431-5465-DDD0-5537D2FA721D}"/>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7" name="TextBox 6">
            <a:extLst>
              <a:ext uri="{FF2B5EF4-FFF2-40B4-BE49-F238E27FC236}">
                <a16:creationId xmlns:a16="http://schemas.microsoft.com/office/drawing/2014/main" id="{B33C7223-0D1A-E266-9687-F55ED0E74C03}"/>
              </a:ext>
            </a:extLst>
          </p:cNvPr>
          <p:cNvSpPr txBox="1"/>
          <p:nvPr/>
        </p:nvSpPr>
        <p:spPr>
          <a:xfrm>
            <a:off x="4323707" y="1639613"/>
            <a:ext cx="5734693" cy="3730317"/>
          </a:xfrm>
          <a:prstGeom prst="rect">
            <a:avLst/>
          </a:prstGeom>
          <a:noFill/>
        </p:spPr>
        <p:txBody>
          <a:bodyPr wrap="square" rtlCol="0">
            <a:spAutoFit/>
          </a:bodyPr>
          <a:lstStyle/>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Architecture Diagram</a:t>
            </a:r>
          </a:p>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Feature Engineering Strategy</a:t>
            </a:r>
          </a:p>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Model Performance &amp; Evaluation</a:t>
            </a:r>
          </a:p>
          <a:p>
            <a:pPr marL="457200" indent="-457200">
              <a:lnSpc>
                <a:spcPct val="150000"/>
              </a:lnSpc>
              <a:buClr>
                <a:schemeClr val="tx1"/>
              </a:buClr>
              <a:buSzPct val="105000"/>
              <a:buFont typeface="+mj-lt"/>
              <a:buAutoNum type="arabicPeriod" startAt="9"/>
            </a:pPr>
            <a:r>
              <a:rPr lang="en-IN" sz="2000" dirty="0" err="1">
                <a:solidFill>
                  <a:schemeClr val="tx1"/>
                </a:solidFill>
                <a:latin typeface="Times New Roman" panose="02020603050405020304" pitchFamily="18" charset="0"/>
                <a:cs typeface="Times New Roman" panose="02020603050405020304" pitchFamily="18" charset="0"/>
              </a:rPr>
              <a:t>Anamoly</a:t>
            </a:r>
            <a:r>
              <a:rPr lang="en-IN" sz="2000" dirty="0">
                <a:solidFill>
                  <a:schemeClr val="tx1"/>
                </a:solidFill>
                <a:latin typeface="Times New Roman" panose="02020603050405020304" pitchFamily="18" charset="0"/>
                <a:cs typeface="Times New Roman" panose="02020603050405020304" pitchFamily="18" charset="0"/>
              </a:rPr>
              <a:t> Detection &amp; Early Warning Analysis</a:t>
            </a:r>
          </a:p>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Result</a:t>
            </a:r>
          </a:p>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Conclusion</a:t>
            </a:r>
          </a:p>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Future Scope\</a:t>
            </a:r>
          </a:p>
          <a:p>
            <a:pPr marL="457200" indent="-457200">
              <a:lnSpc>
                <a:spcPct val="150000"/>
              </a:lnSpc>
              <a:buClr>
                <a:schemeClr val="tx1"/>
              </a:buClr>
              <a:buSzPct val="105000"/>
              <a:buFont typeface="+mj-lt"/>
              <a:buAutoNum type="arabicPeriod" startAt="9"/>
            </a:pPr>
            <a:r>
              <a:rPr lang="en-IN" sz="2000" dirty="0">
                <a:solidFill>
                  <a:schemeClr val="tx1"/>
                </a:solidFill>
                <a:latin typeface="Times New Roman" panose="02020603050405020304" pitchFamily="18" charset="0"/>
                <a:cs typeface="Times New Roman" panose="02020603050405020304" pitchFamily="18" charset="0"/>
              </a:rPr>
              <a:t>Research and References</a:t>
            </a:r>
          </a:p>
        </p:txBody>
      </p:sp>
      <p:sp>
        <p:nvSpPr>
          <p:cNvPr id="8" name="Google Shape;59;p7">
            <a:extLst>
              <a:ext uri="{FF2B5EF4-FFF2-40B4-BE49-F238E27FC236}">
                <a16:creationId xmlns:a16="http://schemas.microsoft.com/office/drawing/2014/main" id="{77FBC1D3-07B8-A189-F522-5B159D348EED}"/>
              </a:ext>
            </a:extLst>
          </p:cNvPr>
          <p:cNvSpPr txBox="1">
            <a:spLocks noGrp="1"/>
          </p:cNvSpPr>
          <p:nvPr>
            <p:ph type="ftr" idx="11"/>
          </p:nvPr>
        </p:nvSpPr>
        <p:spPr>
          <a:xfrm>
            <a:off x="6651841" y="6300736"/>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
          <p:cNvSpPr txBox="1">
            <a:spLocks noGrp="1"/>
          </p:cNvSpPr>
          <p:nvPr>
            <p:ph type="title"/>
          </p:nvPr>
        </p:nvSpPr>
        <p:spPr>
          <a:xfrm>
            <a:off x="535874" y="1064850"/>
            <a:ext cx="6379276" cy="57129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SzPts val="1400"/>
              <a:buNone/>
            </a:pPr>
            <a:r>
              <a:rPr lang="en-US" sz="3600" dirty="0">
                <a:latin typeface="Times New Roman"/>
                <a:ea typeface="Times New Roman"/>
                <a:cs typeface="Times New Roman"/>
                <a:sym typeface="Times New Roman"/>
              </a:rPr>
              <a:t>Internship Completion Certificate</a:t>
            </a:r>
            <a:endParaRPr sz="3600" dirty="0">
              <a:latin typeface="Times New Roman"/>
              <a:ea typeface="Times New Roman"/>
              <a:cs typeface="Times New Roman"/>
              <a:sym typeface="Times New Roman"/>
            </a:endParaRPr>
          </a:p>
        </p:txBody>
      </p:sp>
      <p:sp>
        <p:nvSpPr>
          <p:cNvPr id="166" name="Google Shape;166;p2"/>
          <p:cNvSpPr/>
          <p:nvPr/>
        </p:nvSpPr>
        <p:spPr>
          <a:xfrm rot="10800000">
            <a:off x="10057890" y="1644942"/>
            <a:ext cx="46228" cy="134984"/>
          </a:xfrm>
          <a:custGeom>
            <a:avLst/>
            <a:gdLst/>
            <a:ahLst/>
            <a:cxnLst/>
            <a:rect l="l" t="t" r="r" b="b"/>
            <a:pathLst>
              <a:path w="4622800" h="2571115" extrusionOk="0">
                <a:moveTo>
                  <a:pt x="4619244" y="2570988"/>
                </a:moveTo>
                <a:lnTo>
                  <a:pt x="1524" y="2570988"/>
                </a:lnTo>
                <a:lnTo>
                  <a:pt x="0" y="2569464"/>
                </a:lnTo>
                <a:lnTo>
                  <a:pt x="0" y="1524"/>
                </a:lnTo>
                <a:lnTo>
                  <a:pt x="1524" y="0"/>
                </a:lnTo>
                <a:lnTo>
                  <a:pt x="4619244" y="0"/>
                </a:lnTo>
                <a:lnTo>
                  <a:pt x="4622292" y="1524"/>
                </a:lnTo>
                <a:lnTo>
                  <a:pt x="4622292" y="4572"/>
                </a:lnTo>
                <a:lnTo>
                  <a:pt x="7620" y="4572"/>
                </a:lnTo>
                <a:lnTo>
                  <a:pt x="4572" y="7620"/>
                </a:lnTo>
                <a:lnTo>
                  <a:pt x="7620" y="7620"/>
                </a:lnTo>
                <a:lnTo>
                  <a:pt x="7620" y="2563368"/>
                </a:lnTo>
                <a:lnTo>
                  <a:pt x="4572" y="2563368"/>
                </a:lnTo>
                <a:lnTo>
                  <a:pt x="7620" y="2566415"/>
                </a:lnTo>
                <a:lnTo>
                  <a:pt x="4622292" y="2566415"/>
                </a:lnTo>
                <a:lnTo>
                  <a:pt x="4622292" y="2569464"/>
                </a:lnTo>
                <a:lnTo>
                  <a:pt x="4619244" y="2570988"/>
                </a:lnTo>
                <a:close/>
              </a:path>
              <a:path w="4622800" h="2571115" extrusionOk="0">
                <a:moveTo>
                  <a:pt x="7620" y="7620"/>
                </a:moveTo>
                <a:lnTo>
                  <a:pt x="4572" y="7620"/>
                </a:lnTo>
                <a:lnTo>
                  <a:pt x="7620" y="4572"/>
                </a:lnTo>
                <a:lnTo>
                  <a:pt x="7620" y="7620"/>
                </a:lnTo>
                <a:close/>
              </a:path>
              <a:path w="4622800" h="2571115" extrusionOk="0">
                <a:moveTo>
                  <a:pt x="4613148" y="7620"/>
                </a:moveTo>
                <a:lnTo>
                  <a:pt x="7620" y="7620"/>
                </a:lnTo>
                <a:lnTo>
                  <a:pt x="7620" y="4572"/>
                </a:lnTo>
                <a:lnTo>
                  <a:pt x="4613148" y="4572"/>
                </a:lnTo>
                <a:lnTo>
                  <a:pt x="4613148" y="7620"/>
                </a:lnTo>
                <a:close/>
              </a:path>
              <a:path w="4622800" h="2571115" extrusionOk="0">
                <a:moveTo>
                  <a:pt x="4613148" y="2566415"/>
                </a:moveTo>
                <a:lnTo>
                  <a:pt x="4613148" y="4572"/>
                </a:lnTo>
                <a:lnTo>
                  <a:pt x="4617720" y="7620"/>
                </a:lnTo>
                <a:lnTo>
                  <a:pt x="4622292" y="7620"/>
                </a:lnTo>
                <a:lnTo>
                  <a:pt x="4622292" y="2563368"/>
                </a:lnTo>
                <a:lnTo>
                  <a:pt x="4617720" y="2563368"/>
                </a:lnTo>
                <a:lnTo>
                  <a:pt x="4613148" y="2566415"/>
                </a:lnTo>
                <a:close/>
              </a:path>
              <a:path w="4622800" h="2571115" extrusionOk="0">
                <a:moveTo>
                  <a:pt x="4622292" y="7620"/>
                </a:moveTo>
                <a:lnTo>
                  <a:pt x="4617720" y="7620"/>
                </a:lnTo>
                <a:lnTo>
                  <a:pt x="4613148" y="4572"/>
                </a:lnTo>
                <a:lnTo>
                  <a:pt x="4622292" y="4572"/>
                </a:lnTo>
                <a:lnTo>
                  <a:pt x="4622292" y="7620"/>
                </a:lnTo>
                <a:close/>
              </a:path>
              <a:path w="4622800" h="2571115" extrusionOk="0">
                <a:moveTo>
                  <a:pt x="7620" y="2566415"/>
                </a:moveTo>
                <a:lnTo>
                  <a:pt x="4572" y="2563368"/>
                </a:lnTo>
                <a:lnTo>
                  <a:pt x="7620" y="2563368"/>
                </a:lnTo>
                <a:lnTo>
                  <a:pt x="7620" y="2566415"/>
                </a:lnTo>
                <a:close/>
              </a:path>
              <a:path w="4622800" h="2571115" extrusionOk="0">
                <a:moveTo>
                  <a:pt x="4613148" y="2566415"/>
                </a:moveTo>
                <a:lnTo>
                  <a:pt x="7620" y="2566415"/>
                </a:lnTo>
                <a:lnTo>
                  <a:pt x="7620" y="2563368"/>
                </a:lnTo>
                <a:lnTo>
                  <a:pt x="4613148" y="2563368"/>
                </a:lnTo>
                <a:lnTo>
                  <a:pt x="4613148" y="2566415"/>
                </a:lnTo>
                <a:close/>
              </a:path>
              <a:path w="4622800" h="2571115" extrusionOk="0">
                <a:moveTo>
                  <a:pt x="4622292" y="2566415"/>
                </a:moveTo>
                <a:lnTo>
                  <a:pt x="4613148" y="2566415"/>
                </a:lnTo>
                <a:lnTo>
                  <a:pt x="4617720" y="2563368"/>
                </a:lnTo>
                <a:lnTo>
                  <a:pt x="4622292" y="2563368"/>
                </a:lnTo>
                <a:lnTo>
                  <a:pt x="4622292" y="256641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 name="Google Shape;167;p2"/>
          <p:cNvSpPr txBox="1"/>
          <p:nvPr/>
        </p:nvSpPr>
        <p:spPr>
          <a:xfrm>
            <a:off x="616698" y="6273095"/>
            <a:ext cx="2369100" cy="234900"/>
          </a:xfrm>
          <a:prstGeom prst="rect">
            <a:avLst/>
          </a:prstGeom>
          <a:noFill/>
          <a:ln>
            <a:noFill/>
          </a:ln>
        </p:spPr>
        <p:txBody>
          <a:bodyPr spcFirstLastPara="1" wrap="square" lIns="0" tIns="0" rIns="0" bIns="0" anchor="t" anchorCtr="0">
            <a:spAutoFit/>
          </a:bodyPr>
          <a:lstStyle/>
          <a:p>
            <a:pPr marL="12700" marR="0" lvl="0" indent="0" algn="l" rtl="0">
              <a:lnSpc>
                <a:spcPct val="118206"/>
              </a:lnSpc>
              <a:spcBef>
                <a:spcPts val="0"/>
              </a:spcBef>
              <a:spcAft>
                <a:spcPts val="0"/>
              </a:spcAft>
              <a:buClr>
                <a:srgbClr val="000000"/>
              </a:buClr>
              <a:buSzPts val="1450"/>
              <a:buFont typeface="Arial"/>
              <a:buNone/>
            </a:pPr>
            <a:r>
              <a:rPr lang="en-US" sz="1450" b="0" i="0" u="none" strike="noStrike" cap="none">
                <a:solidFill>
                  <a:srgbClr val="FFFFFF"/>
                </a:solidFill>
                <a:latin typeface="Times New Roman"/>
                <a:ea typeface="Times New Roman"/>
                <a:cs typeface="Times New Roman"/>
                <a:sym typeface="Times New Roman"/>
              </a:rPr>
              <a:t>Dept of Computer Engineering</a:t>
            </a:r>
            <a:endParaRPr sz="1450" b="0" i="0" u="none" strike="noStrike" cap="none">
              <a:solidFill>
                <a:srgbClr val="000000"/>
              </a:solidFill>
              <a:latin typeface="Times New Roman"/>
              <a:ea typeface="Times New Roman"/>
              <a:cs typeface="Times New Roman"/>
              <a:sym typeface="Times New Roman"/>
            </a:endParaRPr>
          </a:p>
        </p:txBody>
      </p:sp>
      <p:sp>
        <p:nvSpPr>
          <p:cNvPr id="169" name="Google Shape;169;p2"/>
          <p:cNvSpPr txBox="1">
            <a:spLocks noGrp="1"/>
          </p:cNvSpPr>
          <p:nvPr>
            <p:ph type="sldNum" idx="12"/>
          </p:nvPr>
        </p:nvSpPr>
        <p:spPr>
          <a:xfrm>
            <a:off x="9150872" y="6273095"/>
            <a:ext cx="543900" cy="272254"/>
          </a:xfrm>
          <a:prstGeom prst="rect">
            <a:avLst/>
          </a:prstGeom>
          <a:noFill/>
          <a:ln>
            <a:noFill/>
          </a:ln>
        </p:spPr>
        <p:txBody>
          <a:bodyPr spcFirstLastPara="1" wrap="square" lIns="0" tIns="0" rIns="0" bIns="0" anchor="t" anchorCtr="0">
            <a:spAutoFit/>
          </a:bodyPr>
          <a:lstStyle/>
          <a:p>
            <a:pPr marL="59688" lvl="0" indent="0" algn="l" rtl="0">
              <a:lnSpc>
                <a:spcPct val="122428"/>
              </a:lnSpc>
              <a:spcBef>
                <a:spcPts val="0"/>
              </a:spcBef>
              <a:spcAft>
                <a:spcPts val="0"/>
              </a:spcAft>
              <a:buSzPts val="1400"/>
              <a:buNone/>
            </a:pPr>
            <a:fld id="{00000000-1234-1234-1234-123412341234}" type="slidenum">
              <a:rPr lang="en-US"/>
              <a:t>3</a:t>
            </a:fld>
            <a:r>
              <a:rPr lang="en-US" dirty="0"/>
              <a:t> </a:t>
            </a:r>
            <a:r>
              <a:rPr lang="en-US"/>
              <a:t>/ 28</a:t>
            </a:r>
            <a:endParaRPr dirty="0"/>
          </a:p>
        </p:txBody>
      </p:sp>
      <p:sp>
        <p:nvSpPr>
          <p:cNvPr id="2" name="Google Shape;58;p7">
            <a:extLst>
              <a:ext uri="{FF2B5EF4-FFF2-40B4-BE49-F238E27FC236}">
                <a16:creationId xmlns:a16="http://schemas.microsoft.com/office/drawing/2014/main" id="{2F928035-860D-8AD2-E554-D812E7CC66E4}"/>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4" name="Picture 3">
            <a:extLst>
              <a:ext uri="{FF2B5EF4-FFF2-40B4-BE49-F238E27FC236}">
                <a16:creationId xmlns:a16="http://schemas.microsoft.com/office/drawing/2014/main" id="{B9DC9E0C-5BD0-B25C-2759-16D2BA035954}"/>
              </a:ext>
            </a:extLst>
          </p:cNvPr>
          <p:cNvPicPr>
            <a:picLocks noChangeAspect="1"/>
          </p:cNvPicPr>
          <p:nvPr/>
        </p:nvPicPr>
        <p:blipFill>
          <a:blip r:embed="rId3"/>
          <a:stretch>
            <a:fillRect/>
          </a:stretch>
        </p:blipFill>
        <p:spPr>
          <a:xfrm>
            <a:off x="1821417" y="1644942"/>
            <a:ext cx="6415565" cy="4536299"/>
          </a:xfrm>
          <a:prstGeom prst="rect">
            <a:avLst/>
          </a:prstGeom>
        </p:spPr>
      </p:pic>
      <p:sp>
        <p:nvSpPr>
          <p:cNvPr id="5" name="Google Shape;59;p7">
            <a:extLst>
              <a:ext uri="{FF2B5EF4-FFF2-40B4-BE49-F238E27FC236}">
                <a16:creationId xmlns:a16="http://schemas.microsoft.com/office/drawing/2014/main" id="{8D39E9EF-7A1C-5F7D-77D9-17F9BAC71BF1}"/>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28313DD7-1C76-CB89-7AAF-47D5913347C5}"/>
            </a:ext>
          </a:extLst>
        </p:cNvPr>
        <p:cNvGrpSpPr/>
        <p:nvPr/>
      </p:nvGrpSpPr>
      <p:grpSpPr>
        <a:xfrm>
          <a:off x="0" y="0"/>
          <a:ext cx="0" cy="0"/>
          <a:chOff x="0" y="0"/>
          <a:chExt cx="0" cy="0"/>
        </a:xfrm>
      </p:grpSpPr>
      <p:sp>
        <p:nvSpPr>
          <p:cNvPr id="165" name="Google Shape;165;p2">
            <a:extLst>
              <a:ext uri="{FF2B5EF4-FFF2-40B4-BE49-F238E27FC236}">
                <a16:creationId xmlns:a16="http://schemas.microsoft.com/office/drawing/2014/main" id="{DD019A9E-134C-0379-172D-F94241E46AE4}"/>
              </a:ext>
            </a:extLst>
          </p:cNvPr>
          <p:cNvSpPr txBox="1">
            <a:spLocks noGrp="1"/>
          </p:cNvSpPr>
          <p:nvPr>
            <p:ph type="title"/>
          </p:nvPr>
        </p:nvSpPr>
        <p:spPr>
          <a:xfrm>
            <a:off x="535874" y="1064850"/>
            <a:ext cx="3322800" cy="5754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SzPts val="1400"/>
              <a:buNone/>
            </a:pPr>
            <a:r>
              <a:rPr lang="en-US" sz="3600">
                <a:latin typeface="Times New Roman"/>
                <a:ea typeface="Times New Roman"/>
                <a:cs typeface="Times New Roman"/>
                <a:sym typeface="Times New Roman"/>
              </a:rPr>
              <a:t>Introduction</a:t>
            </a:r>
            <a:endParaRPr sz="3600">
              <a:latin typeface="Times New Roman"/>
              <a:ea typeface="Times New Roman"/>
              <a:cs typeface="Times New Roman"/>
              <a:sym typeface="Times New Roman"/>
            </a:endParaRPr>
          </a:p>
        </p:txBody>
      </p:sp>
      <p:sp>
        <p:nvSpPr>
          <p:cNvPr id="166" name="Google Shape;166;p2">
            <a:extLst>
              <a:ext uri="{FF2B5EF4-FFF2-40B4-BE49-F238E27FC236}">
                <a16:creationId xmlns:a16="http://schemas.microsoft.com/office/drawing/2014/main" id="{AB4A656B-25CF-FA7F-D4BA-7CED3A393C96}"/>
              </a:ext>
            </a:extLst>
          </p:cNvPr>
          <p:cNvSpPr/>
          <p:nvPr/>
        </p:nvSpPr>
        <p:spPr>
          <a:xfrm rot="10800000">
            <a:off x="10057890" y="1644942"/>
            <a:ext cx="46228" cy="134984"/>
          </a:xfrm>
          <a:custGeom>
            <a:avLst/>
            <a:gdLst/>
            <a:ahLst/>
            <a:cxnLst/>
            <a:rect l="l" t="t" r="r" b="b"/>
            <a:pathLst>
              <a:path w="4622800" h="2571115" extrusionOk="0">
                <a:moveTo>
                  <a:pt x="4619244" y="2570988"/>
                </a:moveTo>
                <a:lnTo>
                  <a:pt x="1524" y="2570988"/>
                </a:lnTo>
                <a:lnTo>
                  <a:pt x="0" y="2569464"/>
                </a:lnTo>
                <a:lnTo>
                  <a:pt x="0" y="1524"/>
                </a:lnTo>
                <a:lnTo>
                  <a:pt x="1524" y="0"/>
                </a:lnTo>
                <a:lnTo>
                  <a:pt x="4619244" y="0"/>
                </a:lnTo>
                <a:lnTo>
                  <a:pt x="4622292" y="1524"/>
                </a:lnTo>
                <a:lnTo>
                  <a:pt x="4622292" y="4572"/>
                </a:lnTo>
                <a:lnTo>
                  <a:pt x="7620" y="4572"/>
                </a:lnTo>
                <a:lnTo>
                  <a:pt x="4572" y="7620"/>
                </a:lnTo>
                <a:lnTo>
                  <a:pt x="7620" y="7620"/>
                </a:lnTo>
                <a:lnTo>
                  <a:pt x="7620" y="2563368"/>
                </a:lnTo>
                <a:lnTo>
                  <a:pt x="4572" y="2563368"/>
                </a:lnTo>
                <a:lnTo>
                  <a:pt x="7620" y="2566415"/>
                </a:lnTo>
                <a:lnTo>
                  <a:pt x="4622292" y="2566415"/>
                </a:lnTo>
                <a:lnTo>
                  <a:pt x="4622292" y="2569464"/>
                </a:lnTo>
                <a:lnTo>
                  <a:pt x="4619244" y="2570988"/>
                </a:lnTo>
                <a:close/>
              </a:path>
              <a:path w="4622800" h="2571115" extrusionOk="0">
                <a:moveTo>
                  <a:pt x="7620" y="7620"/>
                </a:moveTo>
                <a:lnTo>
                  <a:pt x="4572" y="7620"/>
                </a:lnTo>
                <a:lnTo>
                  <a:pt x="7620" y="4572"/>
                </a:lnTo>
                <a:lnTo>
                  <a:pt x="7620" y="7620"/>
                </a:lnTo>
                <a:close/>
              </a:path>
              <a:path w="4622800" h="2571115" extrusionOk="0">
                <a:moveTo>
                  <a:pt x="4613148" y="7620"/>
                </a:moveTo>
                <a:lnTo>
                  <a:pt x="7620" y="7620"/>
                </a:lnTo>
                <a:lnTo>
                  <a:pt x="7620" y="4572"/>
                </a:lnTo>
                <a:lnTo>
                  <a:pt x="4613148" y="4572"/>
                </a:lnTo>
                <a:lnTo>
                  <a:pt x="4613148" y="7620"/>
                </a:lnTo>
                <a:close/>
              </a:path>
              <a:path w="4622800" h="2571115" extrusionOk="0">
                <a:moveTo>
                  <a:pt x="4613148" y="2566415"/>
                </a:moveTo>
                <a:lnTo>
                  <a:pt x="4613148" y="4572"/>
                </a:lnTo>
                <a:lnTo>
                  <a:pt x="4617720" y="7620"/>
                </a:lnTo>
                <a:lnTo>
                  <a:pt x="4622292" y="7620"/>
                </a:lnTo>
                <a:lnTo>
                  <a:pt x="4622292" y="2563368"/>
                </a:lnTo>
                <a:lnTo>
                  <a:pt x="4617720" y="2563368"/>
                </a:lnTo>
                <a:lnTo>
                  <a:pt x="4613148" y="2566415"/>
                </a:lnTo>
                <a:close/>
              </a:path>
              <a:path w="4622800" h="2571115" extrusionOk="0">
                <a:moveTo>
                  <a:pt x="4622292" y="7620"/>
                </a:moveTo>
                <a:lnTo>
                  <a:pt x="4617720" y="7620"/>
                </a:lnTo>
                <a:lnTo>
                  <a:pt x="4613148" y="4572"/>
                </a:lnTo>
                <a:lnTo>
                  <a:pt x="4622292" y="4572"/>
                </a:lnTo>
                <a:lnTo>
                  <a:pt x="4622292" y="7620"/>
                </a:lnTo>
                <a:close/>
              </a:path>
              <a:path w="4622800" h="2571115" extrusionOk="0">
                <a:moveTo>
                  <a:pt x="7620" y="2566415"/>
                </a:moveTo>
                <a:lnTo>
                  <a:pt x="4572" y="2563368"/>
                </a:lnTo>
                <a:lnTo>
                  <a:pt x="7620" y="2563368"/>
                </a:lnTo>
                <a:lnTo>
                  <a:pt x="7620" y="2566415"/>
                </a:lnTo>
                <a:close/>
              </a:path>
              <a:path w="4622800" h="2571115" extrusionOk="0">
                <a:moveTo>
                  <a:pt x="4613148" y="2566415"/>
                </a:moveTo>
                <a:lnTo>
                  <a:pt x="7620" y="2566415"/>
                </a:lnTo>
                <a:lnTo>
                  <a:pt x="7620" y="2563368"/>
                </a:lnTo>
                <a:lnTo>
                  <a:pt x="4613148" y="2563368"/>
                </a:lnTo>
                <a:lnTo>
                  <a:pt x="4613148" y="2566415"/>
                </a:lnTo>
                <a:close/>
              </a:path>
              <a:path w="4622800" h="2571115" extrusionOk="0">
                <a:moveTo>
                  <a:pt x="4622292" y="2566415"/>
                </a:moveTo>
                <a:lnTo>
                  <a:pt x="4613148" y="2566415"/>
                </a:lnTo>
                <a:lnTo>
                  <a:pt x="4617720" y="2563368"/>
                </a:lnTo>
                <a:lnTo>
                  <a:pt x="4622292" y="2563368"/>
                </a:lnTo>
                <a:lnTo>
                  <a:pt x="4622292" y="256641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 name="Google Shape;167;p2">
            <a:extLst>
              <a:ext uri="{FF2B5EF4-FFF2-40B4-BE49-F238E27FC236}">
                <a16:creationId xmlns:a16="http://schemas.microsoft.com/office/drawing/2014/main" id="{FEFB17A5-9C0E-3991-CDBA-E12927ACA5B1}"/>
              </a:ext>
            </a:extLst>
          </p:cNvPr>
          <p:cNvSpPr txBox="1"/>
          <p:nvPr/>
        </p:nvSpPr>
        <p:spPr>
          <a:xfrm>
            <a:off x="616698" y="6273095"/>
            <a:ext cx="2369100" cy="234900"/>
          </a:xfrm>
          <a:prstGeom prst="rect">
            <a:avLst/>
          </a:prstGeom>
          <a:noFill/>
          <a:ln>
            <a:noFill/>
          </a:ln>
        </p:spPr>
        <p:txBody>
          <a:bodyPr spcFirstLastPara="1" wrap="square" lIns="0" tIns="0" rIns="0" bIns="0" anchor="t" anchorCtr="0">
            <a:spAutoFit/>
          </a:bodyPr>
          <a:lstStyle/>
          <a:p>
            <a:pPr marL="12700" marR="0" lvl="0" indent="0" algn="l" rtl="0">
              <a:lnSpc>
                <a:spcPct val="118206"/>
              </a:lnSpc>
              <a:spcBef>
                <a:spcPts val="0"/>
              </a:spcBef>
              <a:spcAft>
                <a:spcPts val="0"/>
              </a:spcAft>
              <a:buClr>
                <a:srgbClr val="000000"/>
              </a:buClr>
              <a:buSzPts val="1450"/>
              <a:buFont typeface="Arial"/>
              <a:buNone/>
            </a:pPr>
            <a:r>
              <a:rPr lang="en-US" sz="1450" b="0" i="0" u="none" strike="noStrike" cap="none">
                <a:solidFill>
                  <a:srgbClr val="FFFFFF"/>
                </a:solidFill>
                <a:latin typeface="Times New Roman"/>
                <a:ea typeface="Times New Roman"/>
                <a:cs typeface="Times New Roman"/>
                <a:sym typeface="Times New Roman"/>
              </a:rPr>
              <a:t>Dept of Computer Engineering</a:t>
            </a:r>
            <a:endParaRPr sz="1450" b="0" i="0" u="none" strike="noStrike" cap="none">
              <a:solidFill>
                <a:srgbClr val="000000"/>
              </a:solidFill>
              <a:latin typeface="Times New Roman"/>
              <a:ea typeface="Times New Roman"/>
              <a:cs typeface="Times New Roman"/>
              <a:sym typeface="Times New Roman"/>
            </a:endParaRPr>
          </a:p>
        </p:txBody>
      </p:sp>
      <p:sp>
        <p:nvSpPr>
          <p:cNvPr id="169" name="Google Shape;169;p2">
            <a:extLst>
              <a:ext uri="{FF2B5EF4-FFF2-40B4-BE49-F238E27FC236}">
                <a16:creationId xmlns:a16="http://schemas.microsoft.com/office/drawing/2014/main" id="{C1AD6C52-54DA-06DE-EC05-E6A3A262C0A6}"/>
              </a:ext>
            </a:extLst>
          </p:cNvPr>
          <p:cNvSpPr txBox="1">
            <a:spLocks noGrp="1"/>
          </p:cNvSpPr>
          <p:nvPr>
            <p:ph type="sldNum" idx="12"/>
          </p:nvPr>
        </p:nvSpPr>
        <p:spPr>
          <a:xfrm>
            <a:off x="9150872" y="6273095"/>
            <a:ext cx="543900" cy="272254"/>
          </a:xfrm>
          <a:prstGeom prst="rect">
            <a:avLst/>
          </a:prstGeom>
          <a:noFill/>
          <a:ln>
            <a:noFill/>
          </a:ln>
        </p:spPr>
        <p:txBody>
          <a:bodyPr spcFirstLastPara="1" wrap="square" lIns="0" tIns="0" rIns="0" bIns="0" anchor="t" anchorCtr="0">
            <a:spAutoFit/>
          </a:bodyPr>
          <a:lstStyle/>
          <a:p>
            <a:pPr marL="59688" lvl="0" indent="0" algn="l" rtl="0">
              <a:lnSpc>
                <a:spcPct val="122428"/>
              </a:lnSpc>
              <a:spcBef>
                <a:spcPts val="0"/>
              </a:spcBef>
              <a:spcAft>
                <a:spcPts val="0"/>
              </a:spcAft>
              <a:buSzPts val="1400"/>
              <a:buNone/>
            </a:pPr>
            <a:fld id="{00000000-1234-1234-1234-123412341234}" type="slidenum">
              <a:rPr lang="en-US"/>
              <a:t>4</a:t>
            </a:fld>
            <a:r>
              <a:rPr lang="en-US" dirty="0"/>
              <a:t> </a:t>
            </a:r>
            <a:r>
              <a:rPr lang="en-US"/>
              <a:t>/ 28</a:t>
            </a:r>
            <a:endParaRPr lang="en-US" dirty="0"/>
          </a:p>
        </p:txBody>
      </p:sp>
      <p:sp>
        <p:nvSpPr>
          <p:cNvPr id="171" name="Google Shape;171;p2">
            <a:extLst>
              <a:ext uri="{FF2B5EF4-FFF2-40B4-BE49-F238E27FC236}">
                <a16:creationId xmlns:a16="http://schemas.microsoft.com/office/drawing/2014/main" id="{D5D86F13-6584-4982-2F18-F7251284B9D2}"/>
              </a:ext>
            </a:extLst>
          </p:cNvPr>
          <p:cNvSpPr/>
          <p:nvPr/>
        </p:nvSpPr>
        <p:spPr>
          <a:xfrm>
            <a:off x="168925" y="1779927"/>
            <a:ext cx="9737100" cy="4024800"/>
          </a:xfrm>
          <a:prstGeom prst="rect">
            <a:avLst/>
          </a:prstGeom>
          <a:noFill/>
          <a:ln>
            <a:noFill/>
          </a:ln>
        </p:spPr>
        <p:txBody>
          <a:bodyPr spcFirstLastPara="1" wrap="square" lIns="91425" tIns="45700" rIns="91425" bIns="45700" anchor="ctr" anchorCtr="0">
            <a:noAutofit/>
          </a:bodyPr>
          <a:lstStyle/>
          <a:p>
            <a:pPr lvl="0" indent="457200" algn="just">
              <a:lnSpc>
                <a:spcPct val="115000"/>
              </a:lnSpc>
              <a:spcBef>
                <a:spcPts val="1200"/>
              </a:spcBef>
              <a:buSzPts val="1100"/>
            </a:pPr>
            <a:r>
              <a:rPr lang="en-US" sz="2400" b="1" dirty="0">
                <a:latin typeface="Times New Roman" panose="02020603050405020304" pitchFamily="18" charset="0"/>
                <a:cs typeface="Times New Roman" panose="02020603050405020304" pitchFamily="18" charset="0"/>
              </a:rPr>
              <a:t>Unplanned equipment failures</a:t>
            </a:r>
            <a:r>
              <a:rPr lang="en-US" sz="2400" dirty="0">
                <a:latin typeface="Times New Roman" panose="02020603050405020304" pitchFamily="18" charset="0"/>
                <a:cs typeface="Times New Roman" panose="02020603050405020304" pitchFamily="18" charset="0"/>
              </a:rPr>
              <a:t> cause significant financial losses in industrial environments, and traditional maintenance strategies — whether reactive or scheduled — remain inefficient and costly. The growing availability of </a:t>
            </a:r>
            <a:r>
              <a:rPr lang="en-US" sz="2400" b="1" dirty="0">
                <a:latin typeface="Times New Roman" panose="02020603050405020304" pitchFamily="18" charset="0"/>
                <a:cs typeface="Times New Roman" panose="02020603050405020304" pitchFamily="18" charset="0"/>
              </a:rPr>
              <a:t>industrial sensor data </a:t>
            </a:r>
            <a:r>
              <a:rPr lang="en-US" sz="2400" dirty="0">
                <a:latin typeface="Times New Roman" panose="02020603050405020304" pitchFamily="18" charset="0"/>
                <a:cs typeface="Times New Roman" panose="02020603050405020304" pitchFamily="18" charset="0"/>
              </a:rPr>
              <a:t>offers a better path forward, enabling </a:t>
            </a:r>
            <a:r>
              <a:rPr lang="en-US" sz="2400" b="1" dirty="0">
                <a:latin typeface="Times New Roman" panose="02020603050405020304" pitchFamily="18" charset="0"/>
                <a:cs typeface="Times New Roman" panose="02020603050405020304" pitchFamily="18" charset="0"/>
              </a:rPr>
              <a:t>real-time monitoring </a:t>
            </a:r>
            <a:r>
              <a:rPr lang="en-US" sz="2400" dirty="0">
                <a:latin typeface="Times New Roman" panose="02020603050405020304" pitchFamily="18" charset="0"/>
                <a:cs typeface="Times New Roman" panose="02020603050405020304" pitchFamily="18" charset="0"/>
              </a:rPr>
              <a:t>of equipment health. By leveraging machine learning to identify degradation patterns, this project develops an end-to-end AI system that predicts </a:t>
            </a:r>
            <a:r>
              <a:rPr lang="en-US" sz="2400" b="1" dirty="0">
                <a:latin typeface="Times New Roman" panose="02020603050405020304" pitchFamily="18" charset="0"/>
                <a:cs typeface="Times New Roman" panose="02020603050405020304" pitchFamily="18" charset="0"/>
              </a:rPr>
              <a:t>Remaining Useful Life (RUL) </a:t>
            </a:r>
            <a:r>
              <a:rPr lang="en-US" sz="2400" dirty="0">
                <a:latin typeface="Times New Roman" panose="02020603050405020304" pitchFamily="18" charset="0"/>
                <a:cs typeface="Times New Roman" panose="02020603050405020304" pitchFamily="18" charset="0"/>
              </a:rPr>
              <a:t>and detects anomalies early, integrated with an interactive dashboard for real-time visibility and informed maintenance decisions.</a:t>
            </a:r>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Google Shape;58;p7">
            <a:extLst>
              <a:ext uri="{FF2B5EF4-FFF2-40B4-BE49-F238E27FC236}">
                <a16:creationId xmlns:a16="http://schemas.microsoft.com/office/drawing/2014/main" id="{64E296C9-3258-AC46-6671-E84AECEE6F15}"/>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Google Shape;59;p7">
            <a:extLst>
              <a:ext uri="{FF2B5EF4-FFF2-40B4-BE49-F238E27FC236}">
                <a16:creationId xmlns:a16="http://schemas.microsoft.com/office/drawing/2014/main" id="{987E61BB-5C92-9E04-E2D5-3B1DB2AEC68F}"/>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30973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DE801517-71A9-C006-81E4-62A6497E5022}"/>
            </a:ext>
          </a:extLst>
        </p:cNvPr>
        <p:cNvGrpSpPr/>
        <p:nvPr/>
      </p:nvGrpSpPr>
      <p:grpSpPr>
        <a:xfrm>
          <a:off x="0" y="0"/>
          <a:ext cx="0" cy="0"/>
          <a:chOff x="0" y="0"/>
          <a:chExt cx="0" cy="0"/>
        </a:xfrm>
      </p:grpSpPr>
      <p:sp>
        <p:nvSpPr>
          <p:cNvPr id="165" name="Google Shape;165;p2">
            <a:extLst>
              <a:ext uri="{FF2B5EF4-FFF2-40B4-BE49-F238E27FC236}">
                <a16:creationId xmlns:a16="http://schemas.microsoft.com/office/drawing/2014/main" id="{5AA474D2-1207-15A3-00C4-C4AD34C2CDAE}"/>
              </a:ext>
            </a:extLst>
          </p:cNvPr>
          <p:cNvSpPr txBox="1">
            <a:spLocks noGrp="1"/>
          </p:cNvSpPr>
          <p:nvPr>
            <p:ph type="title"/>
          </p:nvPr>
        </p:nvSpPr>
        <p:spPr>
          <a:xfrm>
            <a:off x="535874" y="1064850"/>
            <a:ext cx="3322800" cy="5754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SzPts val="1400"/>
              <a:buNone/>
            </a:pPr>
            <a:r>
              <a:rPr lang="en-US" sz="3600">
                <a:latin typeface="Times New Roman"/>
                <a:ea typeface="Times New Roman"/>
                <a:cs typeface="Times New Roman"/>
                <a:sym typeface="Times New Roman"/>
              </a:rPr>
              <a:t>Introduction</a:t>
            </a:r>
            <a:endParaRPr sz="3600">
              <a:latin typeface="Times New Roman"/>
              <a:ea typeface="Times New Roman"/>
              <a:cs typeface="Times New Roman"/>
              <a:sym typeface="Times New Roman"/>
            </a:endParaRPr>
          </a:p>
        </p:txBody>
      </p:sp>
      <p:sp>
        <p:nvSpPr>
          <p:cNvPr id="166" name="Google Shape;166;p2">
            <a:extLst>
              <a:ext uri="{FF2B5EF4-FFF2-40B4-BE49-F238E27FC236}">
                <a16:creationId xmlns:a16="http://schemas.microsoft.com/office/drawing/2014/main" id="{21F15CF0-4287-F943-7A5E-9007134630E6}"/>
              </a:ext>
            </a:extLst>
          </p:cNvPr>
          <p:cNvSpPr/>
          <p:nvPr/>
        </p:nvSpPr>
        <p:spPr>
          <a:xfrm rot="10800000">
            <a:off x="10057890" y="1644942"/>
            <a:ext cx="46228" cy="134984"/>
          </a:xfrm>
          <a:custGeom>
            <a:avLst/>
            <a:gdLst/>
            <a:ahLst/>
            <a:cxnLst/>
            <a:rect l="l" t="t" r="r" b="b"/>
            <a:pathLst>
              <a:path w="4622800" h="2571115" extrusionOk="0">
                <a:moveTo>
                  <a:pt x="4619244" y="2570988"/>
                </a:moveTo>
                <a:lnTo>
                  <a:pt x="1524" y="2570988"/>
                </a:lnTo>
                <a:lnTo>
                  <a:pt x="0" y="2569464"/>
                </a:lnTo>
                <a:lnTo>
                  <a:pt x="0" y="1524"/>
                </a:lnTo>
                <a:lnTo>
                  <a:pt x="1524" y="0"/>
                </a:lnTo>
                <a:lnTo>
                  <a:pt x="4619244" y="0"/>
                </a:lnTo>
                <a:lnTo>
                  <a:pt x="4622292" y="1524"/>
                </a:lnTo>
                <a:lnTo>
                  <a:pt x="4622292" y="4572"/>
                </a:lnTo>
                <a:lnTo>
                  <a:pt x="7620" y="4572"/>
                </a:lnTo>
                <a:lnTo>
                  <a:pt x="4572" y="7620"/>
                </a:lnTo>
                <a:lnTo>
                  <a:pt x="7620" y="7620"/>
                </a:lnTo>
                <a:lnTo>
                  <a:pt x="7620" y="2563368"/>
                </a:lnTo>
                <a:lnTo>
                  <a:pt x="4572" y="2563368"/>
                </a:lnTo>
                <a:lnTo>
                  <a:pt x="7620" y="2566415"/>
                </a:lnTo>
                <a:lnTo>
                  <a:pt x="4622292" y="2566415"/>
                </a:lnTo>
                <a:lnTo>
                  <a:pt x="4622292" y="2569464"/>
                </a:lnTo>
                <a:lnTo>
                  <a:pt x="4619244" y="2570988"/>
                </a:lnTo>
                <a:close/>
              </a:path>
              <a:path w="4622800" h="2571115" extrusionOk="0">
                <a:moveTo>
                  <a:pt x="7620" y="7620"/>
                </a:moveTo>
                <a:lnTo>
                  <a:pt x="4572" y="7620"/>
                </a:lnTo>
                <a:lnTo>
                  <a:pt x="7620" y="4572"/>
                </a:lnTo>
                <a:lnTo>
                  <a:pt x="7620" y="7620"/>
                </a:lnTo>
                <a:close/>
              </a:path>
              <a:path w="4622800" h="2571115" extrusionOk="0">
                <a:moveTo>
                  <a:pt x="4613148" y="7620"/>
                </a:moveTo>
                <a:lnTo>
                  <a:pt x="7620" y="7620"/>
                </a:lnTo>
                <a:lnTo>
                  <a:pt x="7620" y="4572"/>
                </a:lnTo>
                <a:lnTo>
                  <a:pt x="4613148" y="4572"/>
                </a:lnTo>
                <a:lnTo>
                  <a:pt x="4613148" y="7620"/>
                </a:lnTo>
                <a:close/>
              </a:path>
              <a:path w="4622800" h="2571115" extrusionOk="0">
                <a:moveTo>
                  <a:pt x="4613148" y="2566415"/>
                </a:moveTo>
                <a:lnTo>
                  <a:pt x="4613148" y="4572"/>
                </a:lnTo>
                <a:lnTo>
                  <a:pt x="4617720" y="7620"/>
                </a:lnTo>
                <a:lnTo>
                  <a:pt x="4622292" y="7620"/>
                </a:lnTo>
                <a:lnTo>
                  <a:pt x="4622292" y="2563368"/>
                </a:lnTo>
                <a:lnTo>
                  <a:pt x="4617720" y="2563368"/>
                </a:lnTo>
                <a:lnTo>
                  <a:pt x="4613148" y="2566415"/>
                </a:lnTo>
                <a:close/>
              </a:path>
              <a:path w="4622800" h="2571115" extrusionOk="0">
                <a:moveTo>
                  <a:pt x="4622292" y="7620"/>
                </a:moveTo>
                <a:lnTo>
                  <a:pt x="4617720" y="7620"/>
                </a:lnTo>
                <a:lnTo>
                  <a:pt x="4613148" y="4572"/>
                </a:lnTo>
                <a:lnTo>
                  <a:pt x="4622292" y="4572"/>
                </a:lnTo>
                <a:lnTo>
                  <a:pt x="4622292" y="7620"/>
                </a:lnTo>
                <a:close/>
              </a:path>
              <a:path w="4622800" h="2571115" extrusionOk="0">
                <a:moveTo>
                  <a:pt x="7620" y="2566415"/>
                </a:moveTo>
                <a:lnTo>
                  <a:pt x="4572" y="2563368"/>
                </a:lnTo>
                <a:lnTo>
                  <a:pt x="7620" y="2563368"/>
                </a:lnTo>
                <a:lnTo>
                  <a:pt x="7620" y="2566415"/>
                </a:lnTo>
                <a:close/>
              </a:path>
              <a:path w="4622800" h="2571115" extrusionOk="0">
                <a:moveTo>
                  <a:pt x="4613148" y="2566415"/>
                </a:moveTo>
                <a:lnTo>
                  <a:pt x="7620" y="2566415"/>
                </a:lnTo>
                <a:lnTo>
                  <a:pt x="7620" y="2563368"/>
                </a:lnTo>
                <a:lnTo>
                  <a:pt x="4613148" y="2563368"/>
                </a:lnTo>
                <a:lnTo>
                  <a:pt x="4613148" y="2566415"/>
                </a:lnTo>
                <a:close/>
              </a:path>
              <a:path w="4622800" h="2571115" extrusionOk="0">
                <a:moveTo>
                  <a:pt x="4622292" y="2566415"/>
                </a:moveTo>
                <a:lnTo>
                  <a:pt x="4613148" y="2566415"/>
                </a:lnTo>
                <a:lnTo>
                  <a:pt x="4617720" y="2563368"/>
                </a:lnTo>
                <a:lnTo>
                  <a:pt x="4622292" y="2563368"/>
                </a:lnTo>
                <a:lnTo>
                  <a:pt x="4622292" y="256641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 name="Google Shape;167;p2">
            <a:extLst>
              <a:ext uri="{FF2B5EF4-FFF2-40B4-BE49-F238E27FC236}">
                <a16:creationId xmlns:a16="http://schemas.microsoft.com/office/drawing/2014/main" id="{95050BBD-BEFC-9E0A-6CBC-13B5CFDB1853}"/>
              </a:ext>
            </a:extLst>
          </p:cNvPr>
          <p:cNvSpPr txBox="1"/>
          <p:nvPr/>
        </p:nvSpPr>
        <p:spPr>
          <a:xfrm>
            <a:off x="616698" y="6273095"/>
            <a:ext cx="2369100" cy="234900"/>
          </a:xfrm>
          <a:prstGeom prst="rect">
            <a:avLst/>
          </a:prstGeom>
          <a:noFill/>
          <a:ln>
            <a:noFill/>
          </a:ln>
        </p:spPr>
        <p:txBody>
          <a:bodyPr spcFirstLastPara="1" wrap="square" lIns="0" tIns="0" rIns="0" bIns="0" anchor="t" anchorCtr="0">
            <a:spAutoFit/>
          </a:bodyPr>
          <a:lstStyle/>
          <a:p>
            <a:pPr marL="12700" marR="0" lvl="0" indent="0" algn="l" rtl="0">
              <a:lnSpc>
                <a:spcPct val="118206"/>
              </a:lnSpc>
              <a:spcBef>
                <a:spcPts val="0"/>
              </a:spcBef>
              <a:spcAft>
                <a:spcPts val="0"/>
              </a:spcAft>
              <a:buClr>
                <a:srgbClr val="000000"/>
              </a:buClr>
              <a:buSzPts val="1450"/>
              <a:buFont typeface="Arial"/>
              <a:buNone/>
            </a:pPr>
            <a:r>
              <a:rPr lang="en-US" sz="1450" b="0" i="0" u="none" strike="noStrike" cap="none">
                <a:solidFill>
                  <a:srgbClr val="FFFFFF"/>
                </a:solidFill>
                <a:latin typeface="Times New Roman"/>
                <a:ea typeface="Times New Roman"/>
                <a:cs typeface="Times New Roman"/>
                <a:sym typeface="Times New Roman"/>
              </a:rPr>
              <a:t>Dept of Computer Engineering</a:t>
            </a:r>
            <a:endParaRPr sz="1450" b="0" i="0" u="none" strike="noStrike" cap="none">
              <a:solidFill>
                <a:srgbClr val="000000"/>
              </a:solidFill>
              <a:latin typeface="Times New Roman"/>
              <a:ea typeface="Times New Roman"/>
              <a:cs typeface="Times New Roman"/>
              <a:sym typeface="Times New Roman"/>
            </a:endParaRPr>
          </a:p>
        </p:txBody>
      </p:sp>
      <p:sp>
        <p:nvSpPr>
          <p:cNvPr id="169" name="Google Shape;169;p2">
            <a:extLst>
              <a:ext uri="{FF2B5EF4-FFF2-40B4-BE49-F238E27FC236}">
                <a16:creationId xmlns:a16="http://schemas.microsoft.com/office/drawing/2014/main" id="{FAC4659D-1F8A-8A95-17E2-BC0E65E772C6}"/>
              </a:ext>
            </a:extLst>
          </p:cNvPr>
          <p:cNvSpPr txBox="1">
            <a:spLocks noGrp="1"/>
          </p:cNvSpPr>
          <p:nvPr>
            <p:ph type="sldNum" idx="12"/>
          </p:nvPr>
        </p:nvSpPr>
        <p:spPr>
          <a:xfrm>
            <a:off x="9150872" y="6273095"/>
            <a:ext cx="543900" cy="272254"/>
          </a:xfrm>
          <a:prstGeom prst="rect">
            <a:avLst/>
          </a:prstGeom>
          <a:noFill/>
          <a:ln>
            <a:noFill/>
          </a:ln>
        </p:spPr>
        <p:txBody>
          <a:bodyPr spcFirstLastPara="1" wrap="square" lIns="0" tIns="0" rIns="0" bIns="0" anchor="t" anchorCtr="0">
            <a:spAutoFit/>
          </a:bodyPr>
          <a:lstStyle/>
          <a:p>
            <a:pPr marL="59688" lvl="0" indent="0" algn="l" rtl="0">
              <a:lnSpc>
                <a:spcPct val="122428"/>
              </a:lnSpc>
              <a:spcBef>
                <a:spcPts val="0"/>
              </a:spcBef>
              <a:spcAft>
                <a:spcPts val="0"/>
              </a:spcAft>
              <a:buSzPts val="1400"/>
              <a:buNone/>
            </a:pPr>
            <a:fld id="{00000000-1234-1234-1234-123412341234}" type="slidenum">
              <a:rPr lang="en-US"/>
              <a:t>5</a:t>
            </a:fld>
            <a:r>
              <a:rPr lang="en-US" dirty="0"/>
              <a:t> </a:t>
            </a:r>
            <a:r>
              <a:rPr lang="en-US"/>
              <a:t>/ 28</a:t>
            </a:r>
            <a:endParaRPr dirty="0"/>
          </a:p>
        </p:txBody>
      </p:sp>
      <p:sp>
        <p:nvSpPr>
          <p:cNvPr id="2" name="Google Shape;58;p7">
            <a:extLst>
              <a:ext uri="{FF2B5EF4-FFF2-40B4-BE49-F238E27FC236}">
                <a16:creationId xmlns:a16="http://schemas.microsoft.com/office/drawing/2014/main" id="{50A6FAE5-756F-78BD-2E55-C04F3EEB8369}"/>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4" name="Picture 3">
            <a:extLst>
              <a:ext uri="{FF2B5EF4-FFF2-40B4-BE49-F238E27FC236}">
                <a16:creationId xmlns:a16="http://schemas.microsoft.com/office/drawing/2014/main" id="{CEBAABD5-E66A-C379-E3EA-1DDA96A25619}"/>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rcRect t="23372" b="7030"/>
          <a:stretch>
            <a:fillRect/>
          </a:stretch>
        </p:blipFill>
        <p:spPr>
          <a:xfrm>
            <a:off x="2663706" y="1895177"/>
            <a:ext cx="4765793" cy="3953173"/>
          </a:xfrm>
          <a:prstGeom prst="rect">
            <a:avLst/>
          </a:prstGeom>
        </p:spPr>
      </p:pic>
      <p:sp>
        <p:nvSpPr>
          <p:cNvPr id="5" name="Google Shape;59;p7">
            <a:extLst>
              <a:ext uri="{FF2B5EF4-FFF2-40B4-BE49-F238E27FC236}">
                <a16:creationId xmlns:a16="http://schemas.microsoft.com/office/drawing/2014/main" id="{AAE61B32-E693-A19A-2095-E27C6FA7A91E}"/>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022087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55FCA0DB-C1C4-E093-A41C-8B8FCF7684BC}"/>
            </a:ext>
          </a:extLst>
        </p:cNvPr>
        <p:cNvGrpSpPr/>
        <p:nvPr/>
      </p:nvGrpSpPr>
      <p:grpSpPr>
        <a:xfrm>
          <a:off x="0" y="0"/>
          <a:ext cx="0" cy="0"/>
          <a:chOff x="0" y="0"/>
          <a:chExt cx="0" cy="0"/>
        </a:xfrm>
      </p:grpSpPr>
      <p:sp>
        <p:nvSpPr>
          <p:cNvPr id="165" name="Google Shape;165;p2">
            <a:extLst>
              <a:ext uri="{FF2B5EF4-FFF2-40B4-BE49-F238E27FC236}">
                <a16:creationId xmlns:a16="http://schemas.microsoft.com/office/drawing/2014/main" id="{C9436DEA-7C00-739E-F0F5-7832E34D4D73}"/>
              </a:ext>
            </a:extLst>
          </p:cNvPr>
          <p:cNvSpPr txBox="1">
            <a:spLocks noGrp="1"/>
          </p:cNvSpPr>
          <p:nvPr>
            <p:ph type="title"/>
          </p:nvPr>
        </p:nvSpPr>
        <p:spPr>
          <a:xfrm>
            <a:off x="535874" y="1064850"/>
            <a:ext cx="3576386" cy="57129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SzPts val="1400"/>
              <a:buNone/>
            </a:pPr>
            <a:r>
              <a:rPr lang="en-US" sz="3600" dirty="0">
                <a:latin typeface="Times New Roman"/>
                <a:ea typeface="Times New Roman"/>
                <a:cs typeface="Times New Roman"/>
                <a:sym typeface="Times New Roman"/>
              </a:rPr>
              <a:t>Problem Statement</a:t>
            </a:r>
            <a:endParaRPr sz="3600" dirty="0">
              <a:latin typeface="Times New Roman"/>
              <a:ea typeface="Times New Roman"/>
              <a:cs typeface="Times New Roman"/>
              <a:sym typeface="Times New Roman"/>
            </a:endParaRPr>
          </a:p>
        </p:txBody>
      </p:sp>
      <p:sp>
        <p:nvSpPr>
          <p:cNvPr id="166" name="Google Shape;166;p2">
            <a:extLst>
              <a:ext uri="{FF2B5EF4-FFF2-40B4-BE49-F238E27FC236}">
                <a16:creationId xmlns:a16="http://schemas.microsoft.com/office/drawing/2014/main" id="{559DB107-2A31-03C5-D94F-B88A7B605C91}"/>
              </a:ext>
            </a:extLst>
          </p:cNvPr>
          <p:cNvSpPr/>
          <p:nvPr/>
        </p:nvSpPr>
        <p:spPr>
          <a:xfrm rot="10800000">
            <a:off x="10057890" y="1644942"/>
            <a:ext cx="46228" cy="134984"/>
          </a:xfrm>
          <a:custGeom>
            <a:avLst/>
            <a:gdLst/>
            <a:ahLst/>
            <a:cxnLst/>
            <a:rect l="l" t="t" r="r" b="b"/>
            <a:pathLst>
              <a:path w="4622800" h="2571115" extrusionOk="0">
                <a:moveTo>
                  <a:pt x="4619244" y="2570988"/>
                </a:moveTo>
                <a:lnTo>
                  <a:pt x="1524" y="2570988"/>
                </a:lnTo>
                <a:lnTo>
                  <a:pt x="0" y="2569464"/>
                </a:lnTo>
                <a:lnTo>
                  <a:pt x="0" y="1524"/>
                </a:lnTo>
                <a:lnTo>
                  <a:pt x="1524" y="0"/>
                </a:lnTo>
                <a:lnTo>
                  <a:pt x="4619244" y="0"/>
                </a:lnTo>
                <a:lnTo>
                  <a:pt x="4622292" y="1524"/>
                </a:lnTo>
                <a:lnTo>
                  <a:pt x="4622292" y="4572"/>
                </a:lnTo>
                <a:lnTo>
                  <a:pt x="7620" y="4572"/>
                </a:lnTo>
                <a:lnTo>
                  <a:pt x="4572" y="7620"/>
                </a:lnTo>
                <a:lnTo>
                  <a:pt x="7620" y="7620"/>
                </a:lnTo>
                <a:lnTo>
                  <a:pt x="7620" y="2563368"/>
                </a:lnTo>
                <a:lnTo>
                  <a:pt x="4572" y="2563368"/>
                </a:lnTo>
                <a:lnTo>
                  <a:pt x="7620" y="2566415"/>
                </a:lnTo>
                <a:lnTo>
                  <a:pt x="4622292" y="2566415"/>
                </a:lnTo>
                <a:lnTo>
                  <a:pt x="4622292" y="2569464"/>
                </a:lnTo>
                <a:lnTo>
                  <a:pt x="4619244" y="2570988"/>
                </a:lnTo>
                <a:close/>
              </a:path>
              <a:path w="4622800" h="2571115" extrusionOk="0">
                <a:moveTo>
                  <a:pt x="7620" y="7620"/>
                </a:moveTo>
                <a:lnTo>
                  <a:pt x="4572" y="7620"/>
                </a:lnTo>
                <a:lnTo>
                  <a:pt x="7620" y="4572"/>
                </a:lnTo>
                <a:lnTo>
                  <a:pt x="7620" y="7620"/>
                </a:lnTo>
                <a:close/>
              </a:path>
              <a:path w="4622800" h="2571115" extrusionOk="0">
                <a:moveTo>
                  <a:pt x="4613148" y="7620"/>
                </a:moveTo>
                <a:lnTo>
                  <a:pt x="7620" y="7620"/>
                </a:lnTo>
                <a:lnTo>
                  <a:pt x="7620" y="4572"/>
                </a:lnTo>
                <a:lnTo>
                  <a:pt x="4613148" y="4572"/>
                </a:lnTo>
                <a:lnTo>
                  <a:pt x="4613148" y="7620"/>
                </a:lnTo>
                <a:close/>
              </a:path>
              <a:path w="4622800" h="2571115" extrusionOk="0">
                <a:moveTo>
                  <a:pt x="4613148" y="2566415"/>
                </a:moveTo>
                <a:lnTo>
                  <a:pt x="4613148" y="4572"/>
                </a:lnTo>
                <a:lnTo>
                  <a:pt x="4617720" y="7620"/>
                </a:lnTo>
                <a:lnTo>
                  <a:pt x="4622292" y="7620"/>
                </a:lnTo>
                <a:lnTo>
                  <a:pt x="4622292" y="2563368"/>
                </a:lnTo>
                <a:lnTo>
                  <a:pt x="4617720" y="2563368"/>
                </a:lnTo>
                <a:lnTo>
                  <a:pt x="4613148" y="2566415"/>
                </a:lnTo>
                <a:close/>
              </a:path>
              <a:path w="4622800" h="2571115" extrusionOk="0">
                <a:moveTo>
                  <a:pt x="4622292" y="7620"/>
                </a:moveTo>
                <a:lnTo>
                  <a:pt x="4617720" y="7620"/>
                </a:lnTo>
                <a:lnTo>
                  <a:pt x="4613148" y="4572"/>
                </a:lnTo>
                <a:lnTo>
                  <a:pt x="4622292" y="4572"/>
                </a:lnTo>
                <a:lnTo>
                  <a:pt x="4622292" y="7620"/>
                </a:lnTo>
                <a:close/>
              </a:path>
              <a:path w="4622800" h="2571115" extrusionOk="0">
                <a:moveTo>
                  <a:pt x="7620" y="2566415"/>
                </a:moveTo>
                <a:lnTo>
                  <a:pt x="4572" y="2563368"/>
                </a:lnTo>
                <a:lnTo>
                  <a:pt x="7620" y="2563368"/>
                </a:lnTo>
                <a:lnTo>
                  <a:pt x="7620" y="2566415"/>
                </a:lnTo>
                <a:close/>
              </a:path>
              <a:path w="4622800" h="2571115" extrusionOk="0">
                <a:moveTo>
                  <a:pt x="4613148" y="2566415"/>
                </a:moveTo>
                <a:lnTo>
                  <a:pt x="7620" y="2566415"/>
                </a:lnTo>
                <a:lnTo>
                  <a:pt x="7620" y="2563368"/>
                </a:lnTo>
                <a:lnTo>
                  <a:pt x="4613148" y="2563368"/>
                </a:lnTo>
                <a:lnTo>
                  <a:pt x="4613148" y="2566415"/>
                </a:lnTo>
                <a:close/>
              </a:path>
              <a:path w="4622800" h="2571115" extrusionOk="0">
                <a:moveTo>
                  <a:pt x="4622292" y="2566415"/>
                </a:moveTo>
                <a:lnTo>
                  <a:pt x="4613148" y="2566415"/>
                </a:lnTo>
                <a:lnTo>
                  <a:pt x="4617720" y="2563368"/>
                </a:lnTo>
                <a:lnTo>
                  <a:pt x="4622292" y="2563368"/>
                </a:lnTo>
                <a:lnTo>
                  <a:pt x="4622292" y="256641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 name="Google Shape;167;p2">
            <a:extLst>
              <a:ext uri="{FF2B5EF4-FFF2-40B4-BE49-F238E27FC236}">
                <a16:creationId xmlns:a16="http://schemas.microsoft.com/office/drawing/2014/main" id="{003C11C9-EE7D-7604-494C-5DC577E8002A}"/>
              </a:ext>
            </a:extLst>
          </p:cNvPr>
          <p:cNvSpPr txBox="1"/>
          <p:nvPr/>
        </p:nvSpPr>
        <p:spPr>
          <a:xfrm>
            <a:off x="616698" y="6273095"/>
            <a:ext cx="2369100" cy="234900"/>
          </a:xfrm>
          <a:prstGeom prst="rect">
            <a:avLst/>
          </a:prstGeom>
          <a:noFill/>
          <a:ln>
            <a:noFill/>
          </a:ln>
        </p:spPr>
        <p:txBody>
          <a:bodyPr spcFirstLastPara="1" wrap="square" lIns="0" tIns="0" rIns="0" bIns="0" anchor="t" anchorCtr="0">
            <a:spAutoFit/>
          </a:bodyPr>
          <a:lstStyle/>
          <a:p>
            <a:pPr marL="12700" marR="0" lvl="0" indent="0" algn="l" rtl="0">
              <a:lnSpc>
                <a:spcPct val="118206"/>
              </a:lnSpc>
              <a:spcBef>
                <a:spcPts val="0"/>
              </a:spcBef>
              <a:spcAft>
                <a:spcPts val="0"/>
              </a:spcAft>
              <a:buClr>
                <a:srgbClr val="000000"/>
              </a:buClr>
              <a:buSzPts val="1450"/>
              <a:buFont typeface="Arial"/>
              <a:buNone/>
            </a:pPr>
            <a:r>
              <a:rPr lang="en-US" sz="1450" b="0" i="0" u="none" strike="noStrike" cap="none">
                <a:solidFill>
                  <a:srgbClr val="FFFFFF"/>
                </a:solidFill>
                <a:latin typeface="Times New Roman"/>
                <a:ea typeface="Times New Roman"/>
                <a:cs typeface="Times New Roman"/>
                <a:sym typeface="Times New Roman"/>
              </a:rPr>
              <a:t>Dept of Computer Engineering</a:t>
            </a:r>
            <a:endParaRPr sz="1450" b="0" i="0" u="none" strike="noStrike" cap="none">
              <a:solidFill>
                <a:srgbClr val="000000"/>
              </a:solidFill>
              <a:latin typeface="Times New Roman"/>
              <a:ea typeface="Times New Roman"/>
              <a:cs typeface="Times New Roman"/>
              <a:sym typeface="Times New Roman"/>
            </a:endParaRPr>
          </a:p>
        </p:txBody>
      </p:sp>
      <p:sp>
        <p:nvSpPr>
          <p:cNvPr id="169" name="Google Shape;169;p2">
            <a:extLst>
              <a:ext uri="{FF2B5EF4-FFF2-40B4-BE49-F238E27FC236}">
                <a16:creationId xmlns:a16="http://schemas.microsoft.com/office/drawing/2014/main" id="{479A69D0-9DF3-823B-A84A-61026C873824}"/>
              </a:ext>
            </a:extLst>
          </p:cNvPr>
          <p:cNvSpPr txBox="1">
            <a:spLocks noGrp="1"/>
          </p:cNvSpPr>
          <p:nvPr>
            <p:ph type="sldNum" idx="12"/>
          </p:nvPr>
        </p:nvSpPr>
        <p:spPr>
          <a:xfrm>
            <a:off x="9150872" y="6273095"/>
            <a:ext cx="543900" cy="272254"/>
          </a:xfrm>
          <a:prstGeom prst="rect">
            <a:avLst/>
          </a:prstGeom>
          <a:noFill/>
          <a:ln>
            <a:noFill/>
          </a:ln>
        </p:spPr>
        <p:txBody>
          <a:bodyPr spcFirstLastPara="1" wrap="square" lIns="0" tIns="0" rIns="0" bIns="0" anchor="t" anchorCtr="0">
            <a:spAutoFit/>
          </a:bodyPr>
          <a:lstStyle/>
          <a:p>
            <a:pPr marL="59688" lvl="0" indent="0" algn="l" rtl="0">
              <a:lnSpc>
                <a:spcPct val="122428"/>
              </a:lnSpc>
              <a:spcBef>
                <a:spcPts val="0"/>
              </a:spcBef>
              <a:spcAft>
                <a:spcPts val="0"/>
              </a:spcAft>
              <a:buSzPts val="1400"/>
              <a:buNone/>
            </a:pPr>
            <a:fld id="{00000000-1234-1234-1234-123412341234}" type="slidenum">
              <a:rPr lang="en-US"/>
              <a:t>6</a:t>
            </a:fld>
            <a:r>
              <a:rPr lang="en-US" dirty="0"/>
              <a:t> </a:t>
            </a:r>
            <a:r>
              <a:rPr lang="en-US"/>
              <a:t>/ 28</a:t>
            </a:r>
            <a:endParaRPr dirty="0"/>
          </a:p>
        </p:txBody>
      </p:sp>
      <p:sp>
        <p:nvSpPr>
          <p:cNvPr id="2" name="Google Shape;58;p7">
            <a:extLst>
              <a:ext uri="{FF2B5EF4-FFF2-40B4-BE49-F238E27FC236}">
                <a16:creationId xmlns:a16="http://schemas.microsoft.com/office/drawing/2014/main" id="{C7031F12-270E-6835-027A-CB5CF3188B3D}"/>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60320FFB-67B5-276C-FBCE-4299ABA409CA}"/>
              </a:ext>
            </a:extLst>
          </p:cNvPr>
          <p:cNvSpPr txBox="1"/>
          <p:nvPr/>
        </p:nvSpPr>
        <p:spPr>
          <a:xfrm>
            <a:off x="616698" y="1845816"/>
            <a:ext cx="9031732" cy="409342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Industries rely heavily on rotating machinery and engine systems.</a:t>
            </a:r>
            <a:br>
              <a:rPr lang="en-US" sz="2000" b="1" dirty="0">
                <a:latin typeface="Times New Roman" panose="02020603050405020304" pitchFamily="18" charset="0"/>
                <a:cs typeface="Times New Roman" panose="02020603050405020304" pitchFamily="18" charset="0"/>
              </a:rPr>
            </a:br>
            <a:r>
              <a:rPr lang="en-US" sz="2000" u="sng" dirty="0">
                <a:latin typeface="Times New Roman" panose="02020603050405020304" pitchFamily="18" charset="0"/>
                <a:cs typeface="Times New Roman" panose="02020603050405020304" pitchFamily="18" charset="0"/>
              </a:rPr>
              <a:t>Unexpected failures lead to:</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Production downtime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maintenance cost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Safety risks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Operational inefficiency</a:t>
            </a:r>
          </a:p>
          <a:p>
            <a:r>
              <a:rPr lang="en-US" sz="2000" u="sng" dirty="0">
                <a:latin typeface="Times New Roman" panose="02020603050405020304" pitchFamily="18" charset="0"/>
                <a:cs typeface="Times New Roman" panose="02020603050405020304" pitchFamily="18" charset="0"/>
              </a:rPr>
              <a:t>There is a need to develop a system that: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Detects abnormal operational behavior early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actionable alerts before failure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data-driven maintenance decisions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Predicts Remaining Useful Life (RUL) of equipment</a:t>
            </a:r>
          </a:p>
          <a:p>
            <a:endParaRPr lang="en-US" sz="2000" dirty="0">
              <a:latin typeface="Times New Roman" panose="02020603050405020304" pitchFamily="18" charset="0"/>
              <a:cs typeface="Times New Roman" panose="02020603050405020304" pitchFamily="18" charset="0"/>
            </a:endParaRPr>
          </a:p>
        </p:txBody>
      </p:sp>
      <p:sp>
        <p:nvSpPr>
          <p:cNvPr id="5" name="AutoShape 2" descr="Image result for nasa turbofan engine image">
            <a:extLst>
              <a:ext uri="{FF2B5EF4-FFF2-40B4-BE49-F238E27FC236}">
                <a16:creationId xmlns:a16="http://schemas.microsoft.com/office/drawing/2014/main" id="{A285B431-0DDD-DCBD-DC6D-D5999B39172E}"/>
              </a:ext>
            </a:extLst>
          </p:cNvPr>
          <p:cNvSpPr>
            <a:spLocks noChangeAspect="1" noChangeArrowheads="1"/>
          </p:cNvSpPr>
          <p:nvPr/>
        </p:nvSpPr>
        <p:spPr bwMode="auto">
          <a:xfrm>
            <a:off x="4876800" y="2343150"/>
            <a:ext cx="1695450" cy="1695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0" name="Picture 6" descr="Turbofan Engine">
            <a:extLst>
              <a:ext uri="{FF2B5EF4-FFF2-40B4-BE49-F238E27FC236}">
                <a16:creationId xmlns:a16="http://schemas.microsoft.com/office/drawing/2014/main" id="{CC8382E1-76B1-8263-913A-5F07E3DB6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0922" y="2340845"/>
            <a:ext cx="4133850" cy="274320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59;p7">
            <a:extLst>
              <a:ext uri="{FF2B5EF4-FFF2-40B4-BE49-F238E27FC236}">
                <a16:creationId xmlns:a16="http://schemas.microsoft.com/office/drawing/2014/main" id="{83D4033D-5036-5BC6-5F3E-66DC4F022565}"/>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363131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2"/>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ea typeface="Times New Roman"/>
                <a:cs typeface="Times New Roman"/>
                <a:sym typeface="Times New Roman"/>
              </a:rPr>
              <a:t>Objectives</a:t>
            </a:r>
            <a:endParaRPr dirty="0"/>
          </a:p>
        </p:txBody>
      </p:sp>
      <p:sp>
        <p:nvSpPr>
          <p:cNvPr id="109" name="Google Shape;109;p12"/>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p:cNvSpPr txBox="1">
            <a:spLocks noGrp="1"/>
          </p:cNvSpPr>
          <p:nvPr>
            <p:ph type="sldNum" idx="12"/>
          </p:nvPr>
        </p:nvSpPr>
        <p:spPr>
          <a:xfrm>
            <a:off x="9150872" y="6273095"/>
            <a:ext cx="543813"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7</a:t>
            </a:fld>
            <a:r>
              <a:rPr lang="en-US" dirty="0"/>
              <a:t> </a:t>
            </a:r>
            <a:r>
              <a:rPr lang="en-US"/>
              <a:t>/ 28</a:t>
            </a:r>
            <a:endParaRPr dirty="0"/>
          </a:p>
        </p:txBody>
      </p:sp>
      <p:sp>
        <p:nvSpPr>
          <p:cNvPr id="2" name="Google Shape;58;p7">
            <a:extLst>
              <a:ext uri="{FF2B5EF4-FFF2-40B4-BE49-F238E27FC236}">
                <a16:creationId xmlns:a16="http://schemas.microsoft.com/office/drawing/2014/main" id="{493223E1-31A2-304C-6D29-1EFE079CC012}"/>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51F2C386-DA20-B513-68AC-96CA3AAA8BDB}"/>
              </a:ext>
            </a:extLst>
          </p:cNvPr>
          <p:cNvSpPr txBox="1"/>
          <p:nvPr/>
        </p:nvSpPr>
        <p:spPr>
          <a:xfrm>
            <a:off x="741737" y="1769735"/>
            <a:ext cx="8745163" cy="4339650"/>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rPr>
              <a:t>Functional Objectives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Predict Remaining Useful Life (RUL) using machine learning.</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Detect abnormal behavior using anomaly detection.</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Provide early warning signals before system failure.</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Visualize degradation trends through an interactive dashboard.</a:t>
            </a:r>
          </a:p>
          <a:p>
            <a:pPr algn="just"/>
            <a:endParaRPr lang="en-IN" sz="16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Technical Objectives</a:t>
            </a:r>
            <a:endParaRPr lang="en-IN" sz="16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Implement Random Forest for RUL prediction.</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Implement Isolation Forest for anomaly detection.</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Perform feature engineering (rolling statistics on sensor data).</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Build a deployable monitoring dashboard using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a:t>
            </a:r>
          </a:p>
          <a:p>
            <a:pPr algn="just"/>
            <a:endParaRPr lang="en-IN" sz="16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Non-Functional Objectives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Ensure scalable and modular design.</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Maintain real-time responsiveness.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Provide clear and interpretable visual insights.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Deliver a user-friendly monitoring interface.</a:t>
            </a:r>
          </a:p>
        </p:txBody>
      </p:sp>
      <p:sp>
        <p:nvSpPr>
          <p:cNvPr id="4" name="Google Shape;59;p7">
            <a:extLst>
              <a:ext uri="{FF2B5EF4-FFF2-40B4-BE49-F238E27FC236}">
                <a16:creationId xmlns:a16="http://schemas.microsoft.com/office/drawing/2014/main" id="{A3BF8D02-CBA9-6B92-D5AE-5B5DFEA35473}"/>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2BBBC7E-EF90-DCBC-C61A-1B2D2AA8934A}"/>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09B02F95-A9AF-4C52-B6C9-EDF4F69AE858}"/>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ea typeface="Times New Roman"/>
                <a:cs typeface="Times New Roman"/>
                <a:sym typeface="Times New Roman"/>
              </a:rPr>
              <a:t>Scope</a:t>
            </a:r>
            <a:endParaRPr dirty="0"/>
          </a:p>
        </p:txBody>
      </p:sp>
      <p:sp>
        <p:nvSpPr>
          <p:cNvPr id="109" name="Google Shape;109;p12">
            <a:extLst>
              <a:ext uri="{FF2B5EF4-FFF2-40B4-BE49-F238E27FC236}">
                <a16:creationId xmlns:a16="http://schemas.microsoft.com/office/drawing/2014/main" id="{8E465BBB-A7CE-26BA-A246-2915576E8D71}"/>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16087E5D-5EA1-33AD-3C56-4CED7042DB62}"/>
              </a:ext>
            </a:extLst>
          </p:cNvPr>
          <p:cNvSpPr txBox="1">
            <a:spLocks noGrp="1"/>
          </p:cNvSpPr>
          <p:nvPr>
            <p:ph type="sldNum" idx="12"/>
          </p:nvPr>
        </p:nvSpPr>
        <p:spPr>
          <a:xfrm>
            <a:off x="9150872" y="6273095"/>
            <a:ext cx="543813"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8</a:t>
            </a:fld>
            <a:r>
              <a:rPr lang="en-US" dirty="0"/>
              <a:t> </a:t>
            </a:r>
            <a:r>
              <a:rPr lang="en-US"/>
              <a:t>/ 28</a:t>
            </a:r>
            <a:endParaRPr dirty="0"/>
          </a:p>
        </p:txBody>
      </p:sp>
      <p:sp>
        <p:nvSpPr>
          <p:cNvPr id="2" name="Google Shape;58;p7">
            <a:extLst>
              <a:ext uri="{FF2B5EF4-FFF2-40B4-BE49-F238E27FC236}">
                <a16:creationId xmlns:a16="http://schemas.microsoft.com/office/drawing/2014/main" id="{9649AD16-6DE1-E58A-8F22-F1D7F24EFC0C}"/>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3E3B7DF8-822A-29E4-0911-403B218E7CBE}"/>
              </a:ext>
            </a:extLst>
          </p:cNvPr>
          <p:cNvSpPr txBox="1"/>
          <p:nvPr/>
        </p:nvSpPr>
        <p:spPr>
          <a:xfrm>
            <a:off x="741737" y="2178040"/>
            <a:ext cx="8745163" cy="3416320"/>
          </a:xfrm>
          <a:prstGeom prst="rect">
            <a:avLst/>
          </a:prstGeom>
          <a:noFill/>
        </p:spPr>
        <p:txBody>
          <a:bodyPr wrap="square" rtlCol="0">
            <a:spAutoFit/>
          </a:bodyPr>
          <a:lstStyle/>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Applicable to </a:t>
            </a:r>
            <a:r>
              <a:rPr lang="en-US" sz="2400" dirty="0">
                <a:latin typeface="Times New Roman" panose="02020603050405020304" pitchFamily="18" charset="0"/>
                <a:cs typeface="Times New Roman" panose="02020603050405020304" pitchFamily="18" charset="0"/>
              </a:rPr>
              <a:t>industrial rotating machinery and engine systems.</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Designed for </a:t>
            </a:r>
            <a:r>
              <a:rPr lang="en-US" sz="2400" dirty="0">
                <a:latin typeface="Times New Roman" panose="02020603050405020304" pitchFamily="18" charset="0"/>
                <a:cs typeface="Times New Roman" panose="02020603050405020304" pitchFamily="18" charset="0"/>
              </a:rPr>
              <a:t>predictive maintenance in manufacturing, aviation, and heavy industry.</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Supports </a:t>
            </a:r>
            <a:r>
              <a:rPr lang="en-US" sz="2400" dirty="0">
                <a:latin typeface="Times New Roman" panose="02020603050405020304" pitchFamily="18" charset="0"/>
                <a:cs typeface="Times New Roman" panose="02020603050405020304" pitchFamily="18" charset="0"/>
              </a:rPr>
              <a:t>data-driven maintenance planning instead of reactive repair.</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be extended to </a:t>
            </a:r>
            <a:r>
              <a:rPr lang="en-US" sz="2400" b="1" dirty="0">
                <a:latin typeface="Times New Roman" panose="02020603050405020304" pitchFamily="18" charset="0"/>
                <a:cs typeface="Times New Roman" panose="02020603050405020304" pitchFamily="18" charset="0"/>
              </a:rPr>
              <a:t>real-time IoT sensor streams</a:t>
            </a:r>
            <a:r>
              <a:rPr lang="en-US"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Scalable </a:t>
            </a:r>
            <a:r>
              <a:rPr lang="en-US" sz="2400" dirty="0">
                <a:latin typeface="Times New Roman" panose="02020603050405020304" pitchFamily="18" charset="0"/>
                <a:cs typeface="Times New Roman" panose="02020603050405020304" pitchFamily="18" charset="0"/>
              </a:rPr>
              <a:t>for multiple engines and large sensor datasets.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Adaptable to different types of equipment with retraining.</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be integrated with enterprise monitoring systems.</a:t>
            </a:r>
          </a:p>
        </p:txBody>
      </p:sp>
      <p:sp>
        <p:nvSpPr>
          <p:cNvPr id="4" name="Google Shape;59;p7">
            <a:extLst>
              <a:ext uri="{FF2B5EF4-FFF2-40B4-BE49-F238E27FC236}">
                <a16:creationId xmlns:a16="http://schemas.microsoft.com/office/drawing/2014/main" id="{31BEF122-D939-D820-1D4D-592C7986204D}"/>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567584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CA1B276-7FDF-1F58-6E3A-04AF9A8911FF}"/>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1312B686-536F-01C5-F57C-745CDED08BAB}"/>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Project Limitations</a:t>
            </a:r>
            <a:endParaRPr dirty="0"/>
          </a:p>
        </p:txBody>
      </p:sp>
      <p:sp>
        <p:nvSpPr>
          <p:cNvPr id="109" name="Google Shape;109;p12">
            <a:extLst>
              <a:ext uri="{FF2B5EF4-FFF2-40B4-BE49-F238E27FC236}">
                <a16:creationId xmlns:a16="http://schemas.microsoft.com/office/drawing/2014/main" id="{A0F34D1D-C4A5-B07C-9645-8EF4C05446EC}"/>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D833DE86-9876-C0D7-ECA0-A8C962F7CEA3}"/>
              </a:ext>
            </a:extLst>
          </p:cNvPr>
          <p:cNvSpPr txBox="1">
            <a:spLocks noGrp="1"/>
          </p:cNvSpPr>
          <p:nvPr>
            <p:ph type="sldNum" idx="12"/>
          </p:nvPr>
        </p:nvSpPr>
        <p:spPr>
          <a:xfrm>
            <a:off x="9150872" y="6273095"/>
            <a:ext cx="543813"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9</a:t>
            </a:fld>
            <a:r>
              <a:rPr lang="en-US" dirty="0"/>
              <a:t> </a:t>
            </a:r>
            <a:r>
              <a:rPr lang="en-US"/>
              <a:t>/ 28</a:t>
            </a:r>
            <a:endParaRPr dirty="0"/>
          </a:p>
        </p:txBody>
      </p:sp>
      <p:sp>
        <p:nvSpPr>
          <p:cNvPr id="2" name="Google Shape;58;p7">
            <a:extLst>
              <a:ext uri="{FF2B5EF4-FFF2-40B4-BE49-F238E27FC236}">
                <a16:creationId xmlns:a16="http://schemas.microsoft.com/office/drawing/2014/main" id="{77EC9DBF-F658-5AC8-9D60-60EF99693E81}"/>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4BF6D000-68AB-29B5-63F7-DFC9A4C5BA9D}"/>
              </a:ext>
            </a:extLst>
          </p:cNvPr>
          <p:cNvSpPr txBox="1"/>
          <p:nvPr/>
        </p:nvSpPr>
        <p:spPr>
          <a:xfrm>
            <a:off x="741737" y="2178040"/>
            <a:ext cx="8745163" cy="2246769"/>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Currently validated on simulated </a:t>
            </a:r>
            <a:r>
              <a:rPr lang="en-US" sz="2800" b="1" dirty="0">
                <a:latin typeface="Times New Roman" panose="02020603050405020304" pitchFamily="18" charset="0"/>
                <a:cs typeface="Times New Roman" panose="02020603050405020304" pitchFamily="18" charset="0"/>
              </a:rPr>
              <a:t>NASA turbofan dataset</a:t>
            </a:r>
            <a:r>
              <a:rPr lang="en-US" sz="28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Performance depends on quality and consistency of sensor data.</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Requires retraining for different machine types.</a:t>
            </a:r>
          </a:p>
        </p:txBody>
      </p:sp>
      <p:sp>
        <p:nvSpPr>
          <p:cNvPr id="7" name="Google Shape;59;p7">
            <a:extLst>
              <a:ext uri="{FF2B5EF4-FFF2-40B4-BE49-F238E27FC236}">
                <a16:creationId xmlns:a16="http://schemas.microsoft.com/office/drawing/2014/main" id="{10898DA4-D5E4-DAD8-A38C-18C4DF46D4EC}"/>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4166192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F4497D0-28C4-D73B-404F-A3356035E651}"/>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905225E7-563F-D263-800B-90959FBFC785}"/>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Dataset Description</a:t>
            </a:r>
            <a:endParaRPr dirty="0"/>
          </a:p>
        </p:txBody>
      </p:sp>
      <p:sp>
        <p:nvSpPr>
          <p:cNvPr id="109" name="Google Shape;109;p12">
            <a:extLst>
              <a:ext uri="{FF2B5EF4-FFF2-40B4-BE49-F238E27FC236}">
                <a16:creationId xmlns:a16="http://schemas.microsoft.com/office/drawing/2014/main" id="{57914CD7-9611-20A2-C803-F7F2392BC0EA}"/>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245B0033-0F74-894A-F783-0EA084256697}"/>
              </a:ext>
            </a:extLst>
          </p:cNvPr>
          <p:cNvSpPr txBox="1">
            <a:spLocks noGrp="1"/>
          </p:cNvSpPr>
          <p:nvPr>
            <p:ph type="sldNum" idx="12"/>
          </p:nvPr>
        </p:nvSpPr>
        <p:spPr>
          <a:xfrm>
            <a:off x="9150872" y="6273095"/>
            <a:ext cx="543813" cy="544508"/>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10</a:t>
            </a:fld>
            <a:r>
              <a:rPr lang="en-US" dirty="0"/>
              <a:t> </a:t>
            </a:r>
            <a:r>
              <a:rPr lang="en-US"/>
              <a:t>/ 28</a:t>
            </a:r>
            <a:endParaRPr dirty="0"/>
          </a:p>
        </p:txBody>
      </p:sp>
      <p:sp>
        <p:nvSpPr>
          <p:cNvPr id="2" name="Google Shape;58;p7">
            <a:extLst>
              <a:ext uri="{FF2B5EF4-FFF2-40B4-BE49-F238E27FC236}">
                <a16:creationId xmlns:a16="http://schemas.microsoft.com/office/drawing/2014/main" id="{A4372A2F-DBB5-A340-C8EC-7899CF3192AF}"/>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FCB1D68A-5F14-558E-7204-1707453E5C86}"/>
              </a:ext>
            </a:extLst>
          </p:cNvPr>
          <p:cNvSpPr txBox="1"/>
          <p:nvPr/>
        </p:nvSpPr>
        <p:spPr>
          <a:xfrm>
            <a:off x="656618" y="1642402"/>
            <a:ext cx="8745163" cy="4832092"/>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Dataset Used</a:t>
            </a:r>
            <a:endParaRPr lang="en-IN" sz="2000" b="1" dirty="0">
              <a:latin typeface="Times New Roman" panose="02020603050405020304" pitchFamily="18" charset="0"/>
              <a:cs typeface="Times New Roman" panose="02020603050405020304" pitchFamily="18" charset="0"/>
            </a:endParaRPr>
          </a:p>
          <a:p>
            <a:pPr algn="just"/>
            <a:r>
              <a:rPr lang="en-IN" sz="2400" u="sng" dirty="0">
                <a:latin typeface="Times New Roman" panose="02020603050405020304" pitchFamily="18" charset="0"/>
                <a:cs typeface="Times New Roman" panose="02020603050405020304" pitchFamily="18" charset="0"/>
              </a:rPr>
              <a:t>NASA CMAPSS Turbofan Engine Degradation Simulation Dataset</a:t>
            </a:r>
          </a:p>
          <a:p>
            <a:pPr marL="342900" indent="-342900" algn="just">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Source</a:t>
            </a:r>
            <a:r>
              <a:rPr lang="en-IN" sz="2400" dirty="0">
                <a:latin typeface="Times New Roman" panose="02020603050405020304" pitchFamily="18" charset="0"/>
                <a:cs typeface="Times New Roman" panose="02020603050405020304" pitchFamily="18" charset="0"/>
              </a:rPr>
              <a:t>: NASA Prognostics Data Repository</a:t>
            </a:r>
          </a:p>
          <a:p>
            <a:pPr marL="342900" indent="-342900" algn="just">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Dataset</a:t>
            </a:r>
            <a:r>
              <a:rPr lang="en-IN" sz="2400" dirty="0">
                <a:latin typeface="Times New Roman" panose="02020603050405020304" pitchFamily="18" charset="0"/>
                <a:cs typeface="Times New Roman" panose="02020603050405020304" pitchFamily="18" charset="0"/>
              </a:rPr>
              <a:t>: FD001 subset</a:t>
            </a:r>
          </a:p>
          <a:p>
            <a:pPr marL="342900" indent="-342900" algn="just">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Type</a:t>
            </a:r>
            <a:r>
              <a:rPr lang="en-IN" sz="2400" dirty="0">
                <a:latin typeface="Times New Roman" panose="02020603050405020304" pitchFamily="18" charset="0"/>
                <a:cs typeface="Times New Roman" panose="02020603050405020304" pitchFamily="18" charset="0"/>
              </a:rPr>
              <a:t>: Multivariate time-series sensor data</a:t>
            </a:r>
          </a:p>
          <a:p>
            <a:pPr marL="342900" indent="-342900" algn="just">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Total Engines</a:t>
            </a:r>
            <a:r>
              <a:rPr lang="en-IN" sz="2400" dirty="0">
                <a:latin typeface="Times New Roman" panose="02020603050405020304" pitchFamily="18" charset="0"/>
                <a:cs typeface="Times New Roman" panose="02020603050405020304" pitchFamily="18" charset="0"/>
              </a:rPr>
              <a:t>: 100 (training)</a:t>
            </a:r>
          </a:p>
          <a:p>
            <a:pPr marL="342900" indent="-342900" algn="just">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Sensors per engine</a:t>
            </a:r>
            <a:r>
              <a:rPr lang="en-IN" sz="2400" dirty="0">
                <a:latin typeface="Times New Roman" panose="02020603050405020304" pitchFamily="18" charset="0"/>
                <a:cs typeface="Times New Roman" panose="02020603050405020304" pitchFamily="18" charset="0"/>
              </a:rPr>
              <a:t>: 21 sensors</a:t>
            </a:r>
          </a:p>
          <a:p>
            <a:pPr marL="342900" indent="-342900" algn="just">
              <a:buFont typeface="Arial" panose="020B0604020202020204" pitchFamily="34" charset="0"/>
              <a:buChar char="•"/>
            </a:pPr>
            <a:r>
              <a:rPr lang="en-IN" sz="2400" u="sng" dirty="0">
                <a:latin typeface="Times New Roman" panose="02020603050405020304" pitchFamily="18" charset="0"/>
                <a:cs typeface="Times New Roman" panose="02020603050405020304" pitchFamily="18" charset="0"/>
              </a:rPr>
              <a:t>Operational settings</a:t>
            </a:r>
            <a:r>
              <a:rPr lang="en-IN" sz="2400" dirty="0">
                <a:latin typeface="Times New Roman" panose="02020603050405020304" pitchFamily="18" charset="0"/>
                <a:cs typeface="Times New Roman" panose="02020603050405020304" pitchFamily="18" charset="0"/>
              </a:rPr>
              <a:t>: 3</a:t>
            </a:r>
          </a:p>
          <a:p>
            <a:r>
              <a:rPr lang="en-US" sz="2400" b="1" dirty="0">
                <a:latin typeface="Times New Roman" panose="02020603050405020304" pitchFamily="18" charset="0"/>
                <a:cs typeface="Times New Roman" panose="02020603050405020304" pitchFamily="18" charset="0"/>
              </a:rPr>
              <a:t>Why This Dataset?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Industry-standard benchmark for predictive maintenance research.</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Simulates realistic degradation patterns.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Widely used in academic and industrial studies.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4" name="Google Shape;59;p7">
            <a:extLst>
              <a:ext uri="{FF2B5EF4-FFF2-40B4-BE49-F238E27FC236}">
                <a16:creationId xmlns:a16="http://schemas.microsoft.com/office/drawing/2014/main" id="{DD7CE857-70EC-E35F-ABEB-AB86AF7F7B5B}"/>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883337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4F415AD-32C1-D66B-D7E8-BA80B535E021}"/>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2A82BE39-5446-05E0-AC7C-A04CBD20DABF}"/>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Dataset Description</a:t>
            </a:r>
            <a:endParaRPr dirty="0"/>
          </a:p>
        </p:txBody>
      </p:sp>
      <p:sp>
        <p:nvSpPr>
          <p:cNvPr id="109" name="Google Shape;109;p12">
            <a:extLst>
              <a:ext uri="{FF2B5EF4-FFF2-40B4-BE49-F238E27FC236}">
                <a16:creationId xmlns:a16="http://schemas.microsoft.com/office/drawing/2014/main" id="{319F763D-9DA4-6EE3-1C32-67A574647F4F}"/>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A3B769DF-036E-FF15-0F19-1FC646EFB69D}"/>
              </a:ext>
            </a:extLst>
          </p:cNvPr>
          <p:cNvSpPr txBox="1">
            <a:spLocks noGrp="1"/>
          </p:cNvSpPr>
          <p:nvPr>
            <p:ph type="sldNum" idx="12"/>
          </p:nvPr>
        </p:nvSpPr>
        <p:spPr>
          <a:xfrm>
            <a:off x="8991600" y="6273095"/>
            <a:ext cx="703085"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11</a:t>
            </a:fld>
            <a:r>
              <a:rPr lang="en-US" dirty="0"/>
              <a:t> </a:t>
            </a:r>
            <a:r>
              <a:rPr lang="en-US"/>
              <a:t>/ 28</a:t>
            </a:r>
            <a:endParaRPr dirty="0"/>
          </a:p>
        </p:txBody>
      </p:sp>
      <p:sp>
        <p:nvSpPr>
          <p:cNvPr id="2" name="Google Shape;58;p7">
            <a:extLst>
              <a:ext uri="{FF2B5EF4-FFF2-40B4-BE49-F238E27FC236}">
                <a16:creationId xmlns:a16="http://schemas.microsoft.com/office/drawing/2014/main" id="{9D0986DC-5306-71A8-C8CB-23BE5349CB65}"/>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B567138-3147-4E44-394D-8373A261AC6F}"/>
                  </a:ext>
                </a:extLst>
              </p:cNvPr>
              <p:cNvSpPr txBox="1"/>
              <p:nvPr/>
            </p:nvSpPr>
            <p:spPr>
              <a:xfrm>
                <a:off x="741737" y="2178040"/>
                <a:ext cx="8745163" cy="3847207"/>
              </a:xfrm>
              <a:prstGeom prst="rect">
                <a:avLst/>
              </a:prstGeom>
              <a:noFill/>
            </p:spPr>
            <p:txBody>
              <a:bodyPr wrap="square" rtlCol="0">
                <a:spAutoFit/>
              </a:bodyPr>
              <a:lstStyle/>
              <a:p>
                <a:pPr algn="just"/>
                <a:r>
                  <a:rPr lang="en-IN" sz="2800" b="1" dirty="0">
                    <a:latin typeface="Times New Roman" panose="02020603050405020304" pitchFamily="18" charset="0"/>
                    <a:cs typeface="Times New Roman" panose="02020603050405020304" pitchFamily="18" charset="0"/>
                  </a:rPr>
                  <a:t>Dataset Used</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Each</a:t>
                </a:r>
                <a:r>
                  <a:rPr lang="en-IN" sz="2400" dirty="0"/>
                  <a:t> </a:t>
                </a:r>
                <a:r>
                  <a:rPr lang="en-IN" sz="2400" dirty="0">
                    <a:latin typeface="Times New Roman" panose="02020603050405020304" pitchFamily="18" charset="0"/>
                    <a:cs typeface="Times New Roman" panose="02020603050405020304" pitchFamily="18" charset="0"/>
                  </a:rPr>
                  <a:t>record contains:</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Engine ID</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Cycle number</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Operational settings</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21 sensor readings</a:t>
                </a:r>
              </a:p>
              <a:p>
                <a:r>
                  <a:rPr lang="en-IN" sz="2400" dirty="0">
                    <a:latin typeface="Times New Roman" panose="02020603050405020304" pitchFamily="18" charset="0"/>
                    <a:cs typeface="Times New Roman" panose="02020603050405020304" pitchFamily="18" charset="0"/>
                  </a:rPr>
                  <a:t>Failure occurs when engine reaches its maximum cycle.</a:t>
                </a:r>
              </a:p>
              <a:p>
                <a:r>
                  <a:rPr lang="en-IN" sz="2400" dirty="0">
                    <a:latin typeface="Times New Roman" panose="02020603050405020304" pitchFamily="18" charset="0"/>
                    <a:cs typeface="Times New Roman" panose="02020603050405020304" pitchFamily="18" charset="0"/>
                  </a:rPr>
                  <a:t>Remaining Useful Life (RUL) is computed as:</a:t>
                </a:r>
              </a:p>
              <a:p>
                <a14:m>
                  <m:oMathPara xmlns:m="http://schemas.openxmlformats.org/officeDocument/2006/math">
                    <m:oMathParaPr>
                      <m:jc m:val="centerGroup"/>
                    </m:oMathParaPr>
                    <m:oMath xmlns:m="http://schemas.openxmlformats.org/officeDocument/2006/math">
                      <m:r>
                        <a:rPr lang="en-IN" sz="2400" u="sng" smtClean="0">
                          <a:solidFill>
                            <a:schemeClr val="accent2">
                              <a:lumMod val="75000"/>
                            </a:schemeClr>
                          </a:solidFill>
                        </a:rPr>
                        <m:t>𝑅𝑈𝐿</m:t>
                      </m:r>
                      <m:r>
                        <a:rPr lang="en-IN" sz="2400" u="sng" smtClean="0">
                          <a:solidFill>
                            <a:schemeClr val="accent2">
                              <a:lumMod val="75000"/>
                            </a:schemeClr>
                          </a:solidFill>
                        </a:rPr>
                        <m:t>=</m:t>
                      </m:r>
                      <m:r>
                        <a:rPr lang="en-IN" sz="2400" u="sng" smtClean="0">
                          <a:solidFill>
                            <a:schemeClr val="accent2">
                              <a:lumMod val="75000"/>
                            </a:schemeClr>
                          </a:solidFill>
                        </a:rPr>
                        <m:t>𝑀𝑎𝑥𝐶𝑦𝑐𝑙𝑒</m:t>
                      </m:r>
                      <m:r>
                        <a:rPr lang="en-IN" sz="2400" u="sng" smtClean="0">
                          <a:solidFill>
                            <a:schemeClr val="accent2">
                              <a:lumMod val="75000"/>
                            </a:schemeClr>
                          </a:solidFill>
                        </a:rPr>
                        <m:t>−</m:t>
                      </m:r>
                      <m:r>
                        <a:rPr lang="en-IN" sz="2400" u="sng" smtClean="0">
                          <a:solidFill>
                            <a:schemeClr val="accent2">
                              <a:lumMod val="75000"/>
                            </a:schemeClr>
                          </a:solidFill>
                        </a:rPr>
                        <m:t>𝐶𝑢𝑟𝑟𝑒𝑛𝑡𝐶𝑦𝑐𝑙𝑒</m:t>
                      </m:r>
                    </m:oMath>
                  </m:oMathPara>
                </a14:m>
                <a:endParaRPr lang="en-IN" sz="2400" u="sng" dirty="0">
                  <a:solidFill>
                    <a:schemeClr val="accent2">
                      <a:lumMod val="75000"/>
                    </a:schemeClr>
                  </a:solidFill>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DB567138-3147-4E44-394D-8373A261AC6F}"/>
                  </a:ext>
                </a:extLst>
              </p:cNvPr>
              <p:cNvSpPr txBox="1">
                <a:spLocks noRot="1" noChangeAspect="1" noMove="1" noResize="1" noEditPoints="1" noAdjustHandles="1" noChangeArrowheads="1" noChangeShapeType="1" noTextEdit="1"/>
              </p:cNvSpPr>
              <p:nvPr/>
            </p:nvSpPr>
            <p:spPr>
              <a:xfrm>
                <a:off x="741737" y="2178040"/>
                <a:ext cx="8745163" cy="3847207"/>
              </a:xfrm>
              <a:prstGeom prst="rect">
                <a:avLst/>
              </a:prstGeom>
              <a:blipFill>
                <a:blip r:embed="rId3"/>
                <a:stretch>
                  <a:fillRect l="-1464" t="-1585"/>
                </a:stretch>
              </a:blipFill>
            </p:spPr>
            <p:txBody>
              <a:bodyPr/>
              <a:lstStyle/>
              <a:p>
                <a:r>
                  <a:rPr lang="en-IN">
                    <a:noFill/>
                  </a:rPr>
                  <a:t> </a:t>
                </a:r>
              </a:p>
            </p:txBody>
          </p:sp>
        </mc:Fallback>
      </mc:AlternateContent>
      <p:sp>
        <p:nvSpPr>
          <p:cNvPr id="4" name="Google Shape;59;p7">
            <a:extLst>
              <a:ext uri="{FF2B5EF4-FFF2-40B4-BE49-F238E27FC236}">
                <a16:creationId xmlns:a16="http://schemas.microsoft.com/office/drawing/2014/main" id="{049568FB-32D1-FF36-5B5B-D3E786FF303C}"/>
              </a:ext>
            </a:extLst>
          </p:cNvPr>
          <p:cNvSpPr txBox="1">
            <a:spLocks noGrp="1"/>
          </p:cNvSpPr>
          <p:nvPr>
            <p:ph type="ftr" idx="11"/>
          </p:nvPr>
        </p:nvSpPr>
        <p:spPr>
          <a:xfrm>
            <a:off x="6651841" y="6283803"/>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2617972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E8B56A-1AF2-CB35-40AE-6371147B585B}"/>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BDF14C55-5F48-5D62-DDDA-AB87E7D00675}"/>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Dataset Description</a:t>
            </a:r>
            <a:endParaRPr dirty="0"/>
          </a:p>
        </p:txBody>
      </p:sp>
      <p:sp>
        <p:nvSpPr>
          <p:cNvPr id="109" name="Google Shape;109;p12">
            <a:extLst>
              <a:ext uri="{FF2B5EF4-FFF2-40B4-BE49-F238E27FC236}">
                <a16:creationId xmlns:a16="http://schemas.microsoft.com/office/drawing/2014/main" id="{D055F51F-879E-9BB9-6584-A66789AD21DD}"/>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106EC4F4-8AF4-45A2-7AF3-5CF8EBF73214}"/>
              </a:ext>
            </a:extLst>
          </p:cNvPr>
          <p:cNvSpPr txBox="1">
            <a:spLocks noGrp="1"/>
          </p:cNvSpPr>
          <p:nvPr>
            <p:ph type="sldNum" idx="12"/>
          </p:nvPr>
        </p:nvSpPr>
        <p:spPr>
          <a:xfrm>
            <a:off x="9008534" y="6273095"/>
            <a:ext cx="686152"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12</a:t>
            </a:fld>
            <a:r>
              <a:rPr lang="en-US" dirty="0"/>
              <a:t> </a:t>
            </a:r>
            <a:r>
              <a:rPr lang="en-US"/>
              <a:t>/ 28</a:t>
            </a:r>
            <a:endParaRPr dirty="0"/>
          </a:p>
        </p:txBody>
      </p:sp>
      <p:sp>
        <p:nvSpPr>
          <p:cNvPr id="2" name="Google Shape;58;p7">
            <a:extLst>
              <a:ext uri="{FF2B5EF4-FFF2-40B4-BE49-F238E27FC236}">
                <a16:creationId xmlns:a16="http://schemas.microsoft.com/office/drawing/2014/main" id="{1E763FDE-4407-18C3-B4D8-3648648B8A06}"/>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8" name="Picture 7">
            <a:extLst>
              <a:ext uri="{FF2B5EF4-FFF2-40B4-BE49-F238E27FC236}">
                <a16:creationId xmlns:a16="http://schemas.microsoft.com/office/drawing/2014/main" id="{788098D6-EC88-D860-32AD-94E1091D5508}"/>
              </a:ext>
            </a:extLst>
          </p:cNvPr>
          <p:cNvPicPr>
            <a:picLocks noChangeAspect="1"/>
          </p:cNvPicPr>
          <p:nvPr/>
        </p:nvPicPr>
        <p:blipFill>
          <a:blip r:embed="rId3"/>
          <a:srcRect l="7374" t="20921" r="3616" b="10489"/>
          <a:stretch>
            <a:fillRect/>
          </a:stretch>
        </p:blipFill>
        <p:spPr>
          <a:xfrm>
            <a:off x="263370" y="1821425"/>
            <a:ext cx="9531659" cy="4129550"/>
          </a:xfrm>
          <a:prstGeom prst="rect">
            <a:avLst/>
          </a:prstGeom>
        </p:spPr>
      </p:pic>
      <p:sp>
        <p:nvSpPr>
          <p:cNvPr id="9" name="Google Shape;59;p7">
            <a:extLst>
              <a:ext uri="{FF2B5EF4-FFF2-40B4-BE49-F238E27FC236}">
                <a16:creationId xmlns:a16="http://schemas.microsoft.com/office/drawing/2014/main" id="{9E5147EC-5791-4214-9727-21FF92EBDC66}"/>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812641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3BE303A-B220-E986-C964-2CCD67BD166F}"/>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11242563-225A-4EA1-DB2B-B7582ADDEA50}"/>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Technological Details</a:t>
            </a:r>
            <a:endParaRPr dirty="0"/>
          </a:p>
        </p:txBody>
      </p:sp>
      <p:sp>
        <p:nvSpPr>
          <p:cNvPr id="109" name="Google Shape;109;p12">
            <a:extLst>
              <a:ext uri="{FF2B5EF4-FFF2-40B4-BE49-F238E27FC236}">
                <a16:creationId xmlns:a16="http://schemas.microsoft.com/office/drawing/2014/main" id="{7C0049EB-8809-F620-17CD-7DA633595E7F}"/>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CC38D48F-EFB5-8AF9-0DD4-807956BCF893}"/>
              </a:ext>
            </a:extLst>
          </p:cNvPr>
          <p:cNvSpPr txBox="1">
            <a:spLocks noGrp="1"/>
          </p:cNvSpPr>
          <p:nvPr>
            <p:ph type="sldNum" idx="12"/>
          </p:nvPr>
        </p:nvSpPr>
        <p:spPr>
          <a:xfrm>
            <a:off x="9025468" y="6273095"/>
            <a:ext cx="6692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13</a:t>
            </a:fld>
            <a:r>
              <a:rPr lang="en-US" dirty="0"/>
              <a:t> </a:t>
            </a:r>
            <a:r>
              <a:rPr lang="en-US"/>
              <a:t>/ 28</a:t>
            </a:r>
            <a:endParaRPr dirty="0"/>
          </a:p>
        </p:txBody>
      </p:sp>
      <p:sp>
        <p:nvSpPr>
          <p:cNvPr id="2" name="Google Shape;58;p7">
            <a:extLst>
              <a:ext uri="{FF2B5EF4-FFF2-40B4-BE49-F238E27FC236}">
                <a16:creationId xmlns:a16="http://schemas.microsoft.com/office/drawing/2014/main" id="{84BD7F58-4E0B-B37B-2438-12EF803F3F04}"/>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67D4FA44-8AB4-5C51-6958-5F6CA4188F85}"/>
              </a:ext>
            </a:extLst>
          </p:cNvPr>
          <p:cNvSpPr txBox="1"/>
          <p:nvPr/>
        </p:nvSpPr>
        <p:spPr>
          <a:xfrm>
            <a:off x="741737" y="1993374"/>
            <a:ext cx="8745163" cy="378565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Programming Environment</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Pandas, NumPy, Matplotlib, </a:t>
            </a:r>
            <a:r>
              <a:rPr lang="en-IN" sz="2000" dirty="0" err="1">
                <a:latin typeface="Times New Roman" panose="02020603050405020304" pitchFamily="18" charset="0"/>
                <a:cs typeface="Times New Roman" panose="02020603050405020304" pitchFamily="18" charset="0"/>
              </a:rPr>
              <a:t>Plotly</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Scikit-learn,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Joblib</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Machine Learning Models</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u="sng" dirty="0">
                <a:latin typeface="Times New Roman" panose="02020603050405020304" pitchFamily="18" charset="0"/>
                <a:cs typeface="Times New Roman" panose="02020603050405020304" pitchFamily="18" charset="0"/>
              </a:rPr>
              <a:t>Random Forest Regressor</a:t>
            </a:r>
            <a:r>
              <a:rPr lang="en-IN" sz="2000" dirty="0">
                <a:latin typeface="Times New Roman" panose="02020603050405020304" pitchFamily="18" charset="0"/>
                <a:cs typeface="Times New Roman" panose="02020603050405020304" pitchFamily="18" charset="0"/>
              </a:rPr>
              <a:t> – RUL prediction, handles nonlinear degradation and noise</a:t>
            </a:r>
          </a:p>
          <a:p>
            <a:pPr marL="342900" indent="-342900">
              <a:buFont typeface="Arial" panose="020B0604020202020204" pitchFamily="34" charset="0"/>
              <a:buChar char="•"/>
            </a:pPr>
            <a:r>
              <a:rPr lang="en-IN" sz="2000" u="sng" dirty="0">
                <a:latin typeface="Times New Roman" panose="02020603050405020304" pitchFamily="18" charset="0"/>
                <a:cs typeface="Times New Roman" panose="02020603050405020304" pitchFamily="18" charset="0"/>
              </a:rPr>
              <a:t>Isolation Forest</a:t>
            </a:r>
            <a:r>
              <a:rPr lang="en-IN" sz="2000" dirty="0">
                <a:latin typeface="Times New Roman" panose="02020603050405020304" pitchFamily="18" charset="0"/>
                <a:cs typeface="Times New Roman" panose="02020603050405020304" pitchFamily="18" charset="0"/>
              </a:rPr>
              <a:t> – Anomaly detection, trained on healthy cycles to flag deviations</a:t>
            </a:r>
          </a:p>
          <a:p>
            <a:r>
              <a:rPr lang="en-IN" sz="2000" b="1" dirty="0">
                <a:latin typeface="Times New Roman" panose="02020603050405020304" pitchFamily="18" charset="0"/>
                <a:cs typeface="Times New Roman" panose="02020603050405020304" pitchFamily="18" charset="0"/>
              </a:rPr>
              <a:t>Deployment</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u="sng" dirty="0" err="1">
                <a:latin typeface="Times New Roman" panose="02020603050405020304" pitchFamily="18" charset="0"/>
                <a:cs typeface="Times New Roman" panose="02020603050405020304" pitchFamily="18" charset="0"/>
              </a:rPr>
              <a:t>Streamlit</a:t>
            </a:r>
            <a:r>
              <a:rPr lang="en-IN" sz="2000" u="sng" dirty="0">
                <a:latin typeface="Times New Roman" panose="02020603050405020304" pitchFamily="18" charset="0"/>
                <a:cs typeface="Times New Roman" panose="02020603050405020304" pitchFamily="18" charset="0"/>
              </a:rPr>
              <a:t> dashboard</a:t>
            </a:r>
            <a:r>
              <a:rPr lang="en-IN" sz="2000" dirty="0">
                <a:latin typeface="Times New Roman" panose="02020603050405020304" pitchFamily="18" charset="0"/>
                <a:cs typeface="Times New Roman" panose="02020603050405020304" pitchFamily="18" charset="0"/>
              </a:rPr>
              <a:t> with multi-engine visualization and real-time anomaly threshold tuning</a:t>
            </a:r>
          </a:p>
        </p:txBody>
      </p:sp>
      <p:sp>
        <p:nvSpPr>
          <p:cNvPr id="4" name="Google Shape;59;p7">
            <a:extLst>
              <a:ext uri="{FF2B5EF4-FFF2-40B4-BE49-F238E27FC236}">
                <a16:creationId xmlns:a16="http://schemas.microsoft.com/office/drawing/2014/main" id="{D8233DE9-DE54-F9B3-2568-3C742D2009C9}"/>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819863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430BBB2-2778-C5AA-EAF2-8ABAF030BDE3}"/>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04C6BF53-6901-3B8E-2D99-EFD775C68CFE}"/>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Methodology</a:t>
            </a:r>
            <a:endParaRPr dirty="0"/>
          </a:p>
        </p:txBody>
      </p:sp>
      <p:sp>
        <p:nvSpPr>
          <p:cNvPr id="109" name="Google Shape;109;p12">
            <a:extLst>
              <a:ext uri="{FF2B5EF4-FFF2-40B4-BE49-F238E27FC236}">
                <a16:creationId xmlns:a16="http://schemas.microsoft.com/office/drawing/2014/main" id="{CC0FF388-C36A-3992-0D0C-823B85E528BD}"/>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10992A86-6C20-6501-2CF3-97A7B0506B71}"/>
              </a:ext>
            </a:extLst>
          </p:cNvPr>
          <p:cNvSpPr txBox="1">
            <a:spLocks noGrp="1"/>
          </p:cNvSpPr>
          <p:nvPr>
            <p:ph type="sldNum" idx="12"/>
          </p:nvPr>
        </p:nvSpPr>
        <p:spPr>
          <a:xfrm>
            <a:off x="9025468" y="6273095"/>
            <a:ext cx="6692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14</a:t>
            </a:fld>
            <a:r>
              <a:rPr lang="en-US" dirty="0"/>
              <a:t> </a:t>
            </a:r>
            <a:r>
              <a:rPr lang="en-US"/>
              <a:t>/ 28</a:t>
            </a:r>
            <a:endParaRPr dirty="0"/>
          </a:p>
        </p:txBody>
      </p:sp>
      <p:sp>
        <p:nvSpPr>
          <p:cNvPr id="2" name="Google Shape;58;p7">
            <a:extLst>
              <a:ext uri="{FF2B5EF4-FFF2-40B4-BE49-F238E27FC236}">
                <a16:creationId xmlns:a16="http://schemas.microsoft.com/office/drawing/2014/main" id="{1ACC20B2-7336-50ED-60EF-0FDFE461F53A}"/>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3" name="TextBox 2">
            <a:extLst>
              <a:ext uri="{FF2B5EF4-FFF2-40B4-BE49-F238E27FC236}">
                <a16:creationId xmlns:a16="http://schemas.microsoft.com/office/drawing/2014/main" id="{A2ECA4B4-F720-D847-FC49-02380DC23697}"/>
              </a:ext>
            </a:extLst>
          </p:cNvPr>
          <p:cNvSpPr txBox="1"/>
          <p:nvPr/>
        </p:nvSpPr>
        <p:spPr>
          <a:xfrm>
            <a:off x="741737" y="1677402"/>
            <a:ext cx="8745163" cy="4524315"/>
          </a:xfrm>
          <a:prstGeom prst="rect">
            <a:avLst/>
          </a:prstGeom>
          <a:noFill/>
        </p:spPr>
        <p:txBody>
          <a:bodyPr wrap="square" rtlCol="0">
            <a:spAutoFit/>
          </a:bodyPr>
          <a:lstStyle/>
          <a:p>
            <a:pPr algn="just"/>
            <a:r>
              <a:rPr lang="en-IN" sz="1800" b="1" dirty="0">
                <a:latin typeface="Times New Roman" panose="02020603050405020304" pitchFamily="18" charset="0"/>
                <a:cs typeface="Times New Roman" panose="02020603050405020304" pitchFamily="18" charset="0"/>
              </a:rPr>
              <a:t>Step 1: Data Preprocessing</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Assigned column names, removed low-variance sensors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Calculated and capped RUL for regression stability</a:t>
            </a:r>
          </a:p>
          <a:p>
            <a:pPr algn="just"/>
            <a:r>
              <a:rPr lang="en-IN" sz="1800" b="1" dirty="0">
                <a:latin typeface="Times New Roman" panose="02020603050405020304" pitchFamily="18" charset="0"/>
                <a:cs typeface="Times New Roman" panose="02020603050405020304" pitchFamily="18" charset="0"/>
              </a:rPr>
              <a:t>Step 2: Feature Engineering</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Correlation-based sensor selection</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Rolling mean &amp; std dev (window = 5), grouped engine-wise to prevent leakage</a:t>
            </a:r>
          </a:p>
          <a:p>
            <a:pPr algn="just"/>
            <a:r>
              <a:rPr lang="en-IN" sz="1800" b="1" dirty="0">
                <a:latin typeface="Times New Roman" panose="02020603050405020304" pitchFamily="18" charset="0"/>
                <a:cs typeface="Times New Roman" panose="02020603050405020304" pitchFamily="18" charset="0"/>
              </a:rPr>
              <a:t>Step 3: Model Training</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Engine-level train-test split</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Linear Regression (baseline) → Random Forest (primary)</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Evaluated using RMSE &amp; MAE</a:t>
            </a:r>
          </a:p>
          <a:p>
            <a:pPr algn="just"/>
            <a:r>
              <a:rPr lang="en-IN" sz="1800" b="1" dirty="0">
                <a:latin typeface="Times New Roman" panose="02020603050405020304" pitchFamily="18" charset="0"/>
                <a:cs typeface="Times New Roman" panose="02020603050405020304" pitchFamily="18" charset="0"/>
              </a:rPr>
              <a:t>Step 4: Anomaly Detection</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Defined healthy region (RUL &gt; 100)</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Trained Isolation Forest → generated anomaly scores &amp; early warnings</a:t>
            </a:r>
          </a:p>
          <a:p>
            <a:pPr algn="just"/>
            <a:r>
              <a:rPr lang="en-IN" sz="1800" b="1" dirty="0">
                <a:latin typeface="Times New Roman" panose="02020603050405020304" pitchFamily="18" charset="0"/>
                <a:cs typeface="Times New Roman" panose="02020603050405020304" pitchFamily="18" charset="0"/>
              </a:rPr>
              <a:t>Step 5: Deployment</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Serialized models via </a:t>
            </a:r>
            <a:r>
              <a:rPr lang="en-IN" sz="1800" dirty="0" err="1">
                <a:latin typeface="Times New Roman" panose="02020603050405020304" pitchFamily="18" charset="0"/>
                <a:cs typeface="Times New Roman" panose="02020603050405020304" pitchFamily="18" charset="0"/>
              </a:rPr>
              <a:t>Joblib</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Streamlit</a:t>
            </a:r>
            <a:r>
              <a:rPr lang="en-IN" sz="1800" dirty="0">
                <a:latin typeface="Times New Roman" panose="02020603050405020304" pitchFamily="18" charset="0"/>
                <a:cs typeface="Times New Roman" panose="02020603050405020304" pitchFamily="18" charset="0"/>
              </a:rPr>
              <a:t> dashboard visualizing RUL, anomaly scores, lead time &amp; risk indicator</a:t>
            </a:r>
          </a:p>
        </p:txBody>
      </p:sp>
      <p:sp>
        <p:nvSpPr>
          <p:cNvPr id="6" name="Google Shape;59;p7">
            <a:extLst>
              <a:ext uri="{FF2B5EF4-FFF2-40B4-BE49-F238E27FC236}">
                <a16:creationId xmlns:a16="http://schemas.microsoft.com/office/drawing/2014/main" id="{EC37ABF5-FEC6-D755-6748-25EF847768F2}"/>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245071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5C20C3-309B-6936-031E-DEA7E8346A62}"/>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5106E9CA-127B-E811-8BA1-2B3A852F8649}"/>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a:cs typeface="Times New Roman"/>
                <a:sym typeface="Times New Roman"/>
              </a:rPr>
              <a:t>System Architecture</a:t>
            </a:r>
            <a:endParaRPr dirty="0"/>
          </a:p>
        </p:txBody>
      </p:sp>
      <p:sp>
        <p:nvSpPr>
          <p:cNvPr id="109" name="Google Shape;109;p12">
            <a:extLst>
              <a:ext uri="{FF2B5EF4-FFF2-40B4-BE49-F238E27FC236}">
                <a16:creationId xmlns:a16="http://schemas.microsoft.com/office/drawing/2014/main" id="{F1BD0104-1B80-9511-6292-D2BBE9E13143}"/>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8356D878-D30F-86E2-75FC-6463C60E9FAE}"/>
              </a:ext>
            </a:extLst>
          </p:cNvPr>
          <p:cNvSpPr txBox="1">
            <a:spLocks noGrp="1"/>
          </p:cNvSpPr>
          <p:nvPr>
            <p:ph type="sldNum" idx="12"/>
          </p:nvPr>
        </p:nvSpPr>
        <p:spPr>
          <a:xfrm>
            <a:off x="8991600" y="6273095"/>
            <a:ext cx="703085"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15</a:t>
            </a:fld>
            <a:r>
              <a:rPr lang="en-US"/>
              <a:t> /28</a:t>
            </a:r>
            <a:endParaRPr dirty="0"/>
          </a:p>
        </p:txBody>
      </p:sp>
      <p:sp>
        <p:nvSpPr>
          <p:cNvPr id="2" name="Google Shape;58;p7">
            <a:extLst>
              <a:ext uri="{FF2B5EF4-FFF2-40B4-BE49-F238E27FC236}">
                <a16:creationId xmlns:a16="http://schemas.microsoft.com/office/drawing/2014/main" id="{57898040-0BAD-D9EF-53B6-FCF86C877964}"/>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5" name="Picture 4">
            <a:extLst>
              <a:ext uri="{FF2B5EF4-FFF2-40B4-BE49-F238E27FC236}">
                <a16:creationId xmlns:a16="http://schemas.microsoft.com/office/drawing/2014/main" id="{CE04E6DA-1672-2EFD-2AB6-179E45D2787C}"/>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rcRect t="14896" b="6881"/>
          <a:stretch>
            <a:fillRect/>
          </a:stretch>
        </p:blipFill>
        <p:spPr>
          <a:xfrm>
            <a:off x="1801290" y="1573707"/>
            <a:ext cx="6456108" cy="3953917"/>
          </a:xfrm>
          <a:prstGeom prst="rect">
            <a:avLst/>
          </a:prstGeom>
        </p:spPr>
      </p:pic>
      <p:sp>
        <p:nvSpPr>
          <p:cNvPr id="6" name="TextBox 5">
            <a:extLst>
              <a:ext uri="{FF2B5EF4-FFF2-40B4-BE49-F238E27FC236}">
                <a16:creationId xmlns:a16="http://schemas.microsoft.com/office/drawing/2014/main" id="{EFB1D9F8-03CE-64B3-1D7F-19CB769FAFCD}"/>
              </a:ext>
            </a:extLst>
          </p:cNvPr>
          <p:cNvSpPr txBox="1"/>
          <p:nvPr/>
        </p:nvSpPr>
        <p:spPr>
          <a:xfrm>
            <a:off x="1801290" y="5622591"/>
            <a:ext cx="6456108" cy="523220"/>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Dual-model framework combining supervised RUL prediction and unsupervised anomaly detection for robust failure forecasting.</a:t>
            </a:r>
            <a:endParaRPr lang="en-IN" dirty="0">
              <a:latin typeface="Times New Roman" panose="02020603050405020304" pitchFamily="18" charset="0"/>
              <a:cs typeface="Times New Roman" panose="02020603050405020304" pitchFamily="18" charset="0"/>
            </a:endParaRPr>
          </a:p>
        </p:txBody>
      </p:sp>
      <p:sp>
        <p:nvSpPr>
          <p:cNvPr id="7" name="Google Shape;59;p7">
            <a:extLst>
              <a:ext uri="{FF2B5EF4-FFF2-40B4-BE49-F238E27FC236}">
                <a16:creationId xmlns:a16="http://schemas.microsoft.com/office/drawing/2014/main" id="{F0D574F2-E004-27BE-EBB6-1191B3B494C4}"/>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3729284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0EDF8C-E173-2397-98AE-D53F42F2BF85}"/>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FA10E4C4-D877-8431-D039-F9F76F4CD3E6}"/>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Feature Engineering Strategy</a:t>
            </a:r>
            <a:endParaRPr dirty="0"/>
          </a:p>
        </p:txBody>
      </p:sp>
      <p:sp>
        <p:nvSpPr>
          <p:cNvPr id="109" name="Google Shape;109;p12">
            <a:extLst>
              <a:ext uri="{FF2B5EF4-FFF2-40B4-BE49-F238E27FC236}">
                <a16:creationId xmlns:a16="http://schemas.microsoft.com/office/drawing/2014/main" id="{77CD5E62-2096-E94B-0BA3-5F2A4EBFF700}"/>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D4C12FB9-BACE-058B-8C1B-E6FAB96CECD6}"/>
              </a:ext>
            </a:extLst>
          </p:cNvPr>
          <p:cNvSpPr txBox="1">
            <a:spLocks noGrp="1"/>
          </p:cNvSpPr>
          <p:nvPr>
            <p:ph type="sldNum" idx="12"/>
          </p:nvPr>
        </p:nvSpPr>
        <p:spPr>
          <a:xfrm>
            <a:off x="8991600" y="6273095"/>
            <a:ext cx="703085"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16</a:t>
            </a:fld>
            <a:r>
              <a:rPr lang="en-US" dirty="0"/>
              <a:t> </a:t>
            </a:r>
            <a:r>
              <a:rPr lang="en-US"/>
              <a:t>/ 28</a:t>
            </a:r>
            <a:endParaRPr dirty="0"/>
          </a:p>
        </p:txBody>
      </p:sp>
      <p:sp>
        <p:nvSpPr>
          <p:cNvPr id="2" name="Google Shape;58;p7">
            <a:extLst>
              <a:ext uri="{FF2B5EF4-FFF2-40B4-BE49-F238E27FC236}">
                <a16:creationId xmlns:a16="http://schemas.microsoft.com/office/drawing/2014/main" id="{8A12AB0B-351D-CD9A-10DD-73D264AE044B}"/>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9" name="TextBox 8">
            <a:extLst>
              <a:ext uri="{FF2B5EF4-FFF2-40B4-BE49-F238E27FC236}">
                <a16:creationId xmlns:a16="http://schemas.microsoft.com/office/drawing/2014/main" id="{2ECD2AE7-2618-1F44-FCB3-BF39478EDE70}"/>
              </a:ext>
            </a:extLst>
          </p:cNvPr>
          <p:cNvSpPr txBox="1"/>
          <p:nvPr/>
        </p:nvSpPr>
        <p:spPr>
          <a:xfrm>
            <a:off x="741736" y="1806229"/>
            <a:ext cx="8409135" cy="3114763"/>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Objective: To extract degradation patterns from raw sensor signals.</a:t>
            </a:r>
            <a:endParaRPr lang="en-IN" sz="18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Removed low-variance sensors</a:t>
            </a: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Selected high-correlation degrading sensors</a:t>
            </a: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Applied Rolling Mean (window = 5)</a:t>
            </a: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Applied Rolling Standard Deviation</a:t>
            </a: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Grouped operations engine-wise (prevent leakage)</a:t>
            </a:r>
          </a:p>
          <a:p>
            <a:pPr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Applied RUL Capping for regression stability</a:t>
            </a:r>
          </a:p>
        </p:txBody>
      </p:sp>
      <p:sp>
        <p:nvSpPr>
          <p:cNvPr id="10" name="Google Shape;59;p7">
            <a:extLst>
              <a:ext uri="{FF2B5EF4-FFF2-40B4-BE49-F238E27FC236}">
                <a16:creationId xmlns:a16="http://schemas.microsoft.com/office/drawing/2014/main" id="{31DD3FAB-4AA7-7675-86FA-1A45A78DD553}"/>
              </a:ext>
            </a:extLst>
          </p:cNvPr>
          <p:cNvSpPr txBox="1">
            <a:spLocks noGrp="1"/>
          </p:cNvSpPr>
          <p:nvPr>
            <p:ph type="ftr" idx="11"/>
          </p:nvPr>
        </p:nvSpPr>
        <p:spPr>
          <a:xfrm>
            <a:off x="6651841" y="6300736"/>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360840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DCCC2A7-EB67-B501-9D3C-A01D2C94BCDC}"/>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2771DA5B-6F16-95F2-5C27-A3911298EA81}"/>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Model Performance and Evaluation</a:t>
            </a:r>
            <a:endParaRPr lang="en-US" dirty="0"/>
          </a:p>
        </p:txBody>
      </p:sp>
      <p:sp>
        <p:nvSpPr>
          <p:cNvPr id="109" name="Google Shape;109;p12">
            <a:extLst>
              <a:ext uri="{FF2B5EF4-FFF2-40B4-BE49-F238E27FC236}">
                <a16:creationId xmlns:a16="http://schemas.microsoft.com/office/drawing/2014/main" id="{F4E052E3-16F4-C180-BF66-3F2B2CB60968}"/>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5857C257-EED0-7C23-8811-82A482E5C74E}"/>
              </a:ext>
            </a:extLst>
          </p:cNvPr>
          <p:cNvSpPr txBox="1">
            <a:spLocks noGrp="1"/>
          </p:cNvSpPr>
          <p:nvPr>
            <p:ph type="sldNum" idx="12"/>
          </p:nvPr>
        </p:nvSpPr>
        <p:spPr>
          <a:xfrm>
            <a:off x="9025468" y="6273095"/>
            <a:ext cx="6692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17</a:t>
            </a:fld>
            <a:r>
              <a:rPr lang="en-US" dirty="0"/>
              <a:t> </a:t>
            </a:r>
            <a:r>
              <a:rPr lang="en-US"/>
              <a:t>/ 28</a:t>
            </a:r>
            <a:endParaRPr dirty="0"/>
          </a:p>
        </p:txBody>
      </p:sp>
      <p:sp>
        <p:nvSpPr>
          <p:cNvPr id="2" name="Google Shape;58;p7">
            <a:extLst>
              <a:ext uri="{FF2B5EF4-FFF2-40B4-BE49-F238E27FC236}">
                <a16:creationId xmlns:a16="http://schemas.microsoft.com/office/drawing/2014/main" id="{1CC06EA9-3660-FD0F-A6AF-2B77700BAD2B}"/>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graphicFrame>
        <p:nvGraphicFramePr>
          <p:cNvPr id="3" name="Table 2">
            <a:extLst>
              <a:ext uri="{FF2B5EF4-FFF2-40B4-BE49-F238E27FC236}">
                <a16:creationId xmlns:a16="http://schemas.microsoft.com/office/drawing/2014/main" id="{3D433FA5-C111-E36C-C745-1ECBD38E3A50}"/>
              </a:ext>
            </a:extLst>
          </p:cNvPr>
          <p:cNvGraphicFramePr>
            <a:graphicFrameLocks noGrp="1"/>
          </p:cNvGraphicFramePr>
          <p:nvPr>
            <p:extLst>
              <p:ext uri="{D42A27DB-BD31-4B8C-83A1-F6EECF244321}">
                <p14:modId xmlns:p14="http://schemas.microsoft.com/office/powerpoint/2010/main" val="3503239476"/>
              </p:ext>
            </p:extLst>
          </p:nvPr>
        </p:nvGraphicFramePr>
        <p:xfrm>
          <a:off x="741737" y="2182081"/>
          <a:ext cx="6402650" cy="1610770"/>
        </p:xfrm>
        <a:graphic>
          <a:graphicData uri="http://schemas.openxmlformats.org/drawingml/2006/table">
            <a:tbl>
              <a:tblPr/>
              <a:tblGrid>
                <a:gridCol w="2441921">
                  <a:extLst>
                    <a:ext uri="{9D8B030D-6E8A-4147-A177-3AD203B41FA5}">
                      <a16:colId xmlns:a16="http://schemas.microsoft.com/office/drawing/2014/main" val="1523386503"/>
                    </a:ext>
                  </a:extLst>
                </a:gridCol>
                <a:gridCol w="1997942">
                  <a:extLst>
                    <a:ext uri="{9D8B030D-6E8A-4147-A177-3AD203B41FA5}">
                      <a16:colId xmlns:a16="http://schemas.microsoft.com/office/drawing/2014/main" val="2705477088"/>
                    </a:ext>
                  </a:extLst>
                </a:gridCol>
                <a:gridCol w="1962787">
                  <a:extLst>
                    <a:ext uri="{9D8B030D-6E8A-4147-A177-3AD203B41FA5}">
                      <a16:colId xmlns:a16="http://schemas.microsoft.com/office/drawing/2014/main" val="1888337869"/>
                    </a:ext>
                  </a:extLst>
                </a:gridCol>
              </a:tblGrid>
              <a:tr h="513085">
                <a:tc>
                  <a:txBody>
                    <a:bodyPr/>
                    <a:lstStyle/>
                    <a:p>
                      <a:pPr algn="ctr">
                        <a:buNone/>
                      </a:pPr>
                      <a:r>
                        <a:rPr lang="en-IN" sz="2000" dirty="0">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IN" sz="2000">
                          <a:latin typeface="Times New Roman" panose="02020603050405020304" pitchFamily="18" charset="0"/>
                          <a:cs typeface="Times New Roman" panose="02020603050405020304" pitchFamily="18" charset="0"/>
                        </a:rPr>
                        <a:t>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IN" sz="2000" dirty="0">
                          <a:latin typeface="Times New Roman" panose="02020603050405020304" pitchFamily="18" charset="0"/>
                          <a:cs typeface="Times New Roman" panose="02020603050405020304" pitchFamily="18" charset="0"/>
                        </a:rPr>
                        <a:t>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4050111729"/>
                  </a:ext>
                </a:extLst>
              </a:tr>
              <a:tr h="580571">
                <a:tc>
                  <a:txBody>
                    <a:bodyPr/>
                    <a:lstStyle/>
                    <a:p>
                      <a:pPr algn="ctr">
                        <a:buNone/>
                      </a:pPr>
                      <a:r>
                        <a:rPr lang="en-IN" sz="2000" dirty="0">
                          <a:latin typeface="Times New Roman" panose="02020603050405020304" pitchFamily="18" charset="0"/>
                          <a:cs typeface="Times New Roman" panose="02020603050405020304" pitchFamily="18" charset="0"/>
                        </a:rPr>
                        <a:t>Linear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IN" sz="2000" dirty="0">
                          <a:latin typeface="Times New Roman" panose="02020603050405020304" pitchFamily="18" charset="0"/>
                          <a:cs typeface="Times New Roman" panose="02020603050405020304" pitchFamily="18" charset="0"/>
                        </a:rPr>
                        <a:t>21.17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buNone/>
                      </a:pPr>
                      <a:r>
                        <a:rPr lang="en-IN" sz="2000" dirty="0">
                          <a:latin typeface="Times New Roman" panose="02020603050405020304" pitchFamily="18" charset="0"/>
                          <a:cs typeface="Times New Roman" panose="02020603050405020304" pitchFamily="18" charset="0"/>
                        </a:rPr>
                        <a:t>17.03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361335370"/>
                  </a:ext>
                </a:extLst>
              </a:tr>
              <a:tr h="517114">
                <a:tc>
                  <a:txBody>
                    <a:bodyPr/>
                    <a:lstStyle/>
                    <a:p>
                      <a:pPr algn="ctr">
                        <a:buNone/>
                      </a:pPr>
                      <a:r>
                        <a:rPr lang="en-IN" sz="2000" dirty="0">
                          <a:latin typeface="Times New Roman" panose="02020603050405020304" pitchFamily="18" charset="0"/>
                          <a:cs typeface="Times New Roman" panose="02020603050405020304"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IN" sz="2000" dirty="0">
                          <a:latin typeface="Times New Roman" panose="02020603050405020304" pitchFamily="18" charset="0"/>
                          <a:cs typeface="Times New Roman" panose="02020603050405020304" pitchFamily="18" charset="0"/>
                        </a:rPr>
                        <a:t>17.90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buNone/>
                      </a:pPr>
                      <a:r>
                        <a:rPr lang="en-IN" sz="2000" dirty="0">
                          <a:latin typeface="Times New Roman" panose="02020603050405020304" pitchFamily="18" charset="0"/>
                          <a:cs typeface="Times New Roman" panose="02020603050405020304" pitchFamily="18" charset="0"/>
                        </a:rPr>
                        <a:t>12.85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751827425"/>
                  </a:ext>
                </a:extLst>
              </a:tr>
            </a:tbl>
          </a:graphicData>
        </a:graphic>
      </p:graphicFrame>
      <p:sp>
        <p:nvSpPr>
          <p:cNvPr id="7" name="TextBox 6">
            <a:extLst>
              <a:ext uri="{FF2B5EF4-FFF2-40B4-BE49-F238E27FC236}">
                <a16:creationId xmlns:a16="http://schemas.microsoft.com/office/drawing/2014/main" id="{DF6E3367-C0EC-2362-C8B5-170D5CA8AC90}"/>
              </a:ext>
            </a:extLst>
          </p:cNvPr>
          <p:cNvSpPr txBox="1"/>
          <p:nvPr/>
        </p:nvSpPr>
        <p:spPr>
          <a:xfrm>
            <a:off x="741737" y="1720416"/>
            <a:ext cx="1978427"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Key Metrices</a:t>
            </a:r>
          </a:p>
        </p:txBody>
      </p:sp>
      <p:sp>
        <p:nvSpPr>
          <p:cNvPr id="10" name="TextBox 9">
            <a:extLst>
              <a:ext uri="{FF2B5EF4-FFF2-40B4-BE49-F238E27FC236}">
                <a16:creationId xmlns:a16="http://schemas.microsoft.com/office/drawing/2014/main" id="{81BF89EE-0E5B-CAB1-8646-19F0127D19CD}"/>
              </a:ext>
            </a:extLst>
          </p:cNvPr>
          <p:cNvSpPr txBox="1"/>
          <p:nvPr/>
        </p:nvSpPr>
        <p:spPr>
          <a:xfrm>
            <a:off x="741736" y="3965978"/>
            <a:ext cx="6402649" cy="646331"/>
          </a:xfrm>
          <a:prstGeom prst="rect">
            <a:avLst/>
          </a:prstGeom>
          <a:noFill/>
        </p:spPr>
        <p:txBody>
          <a:bodyPr wrap="square">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Random Forest significantly outperformed Linear Regression</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Nonlinear degradation captured effectively</a:t>
            </a:r>
          </a:p>
        </p:txBody>
      </p:sp>
      <p:sp>
        <p:nvSpPr>
          <p:cNvPr id="12" name="TextBox 11">
            <a:extLst>
              <a:ext uri="{FF2B5EF4-FFF2-40B4-BE49-F238E27FC236}">
                <a16:creationId xmlns:a16="http://schemas.microsoft.com/office/drawing/2014/main" id="{725BECC0-DE5D-8390-B7F6-EEB771E63BC1}"/>
              </a:ext>
            </a:extLst>
          </p:cNvPr>
          <p:cNvSpPr txBox="1"/>
          <p:nvPr/>
        </p:nvSpPr>
        <p:spPr>
          <a:xfrm>
            <a:off x="616698" y="4785436"/>
            <a:ext cx="6654959" cy="1015663"/>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Random Forest reduced prediction error by ~15%, indicating nonlinear degradation behavior in engine sensors.</a:t>
            </a:r>
            <a:endParaRPr lang="en-IN" sz="2000" b="1" dirty="0">
              <a:latin typeface="Times New Roman" panose="02020603050405020304" pitchFamily="18" charset="0"/>
              <a:cs typeface="Times New Roman" panose="02020603050405020304" pitchFamily="18" charset="0"/>
            </a:endParaRPr>
          </a:p>
        </p:txBody>
      </p:sp>
      <p:sp>
        <p:nvSpPr>
          <p:cNvPr id="13" name="Google Shape;59;p7">
            <a:extLst>
              <a:ext uri="{FF2B5EF4-FFF2-40B4-BE49-F238E27FC236}">
                <a16:creationId xmlns:a16="http://schemas.microsoft.com/office/drawing/2014/main" id="{807FCBC0-010A-79AB-A59D-EA6A44648B8C}"/>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57952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737A7CC-C8C3-7F37-6084-2BEB953CA9CC}"/>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B1601189-3418-A006-9808-49811AB6AE5E}"/>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Model Performance and Evaluation</a:t>
            </a:r>
            <a:endParaRPr lang="en-US" dirty="0"/>
          </a:p>
        </p:txBody>
      </p:sp>
      <p:sp>
        <p:nvSpPr>
          <p:cNvPr id="109" name="Google Shape;109;p12">
            <a:extLst>
              <a:ext uri="{FF2B5EF4-FFF2-40B4-BE49-F238E27FC236}">
                <a16:creationId xmlns:a16="http://schemas.microsoft.com/office/drawing/2014/main" id="{E80A5ED7-BCA9-C134-E804-3DC385C624DF}"/>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2C35DB27-09F2-8986-C93C-218662A65F26}"/>
              </a:ext>
            </a:extLst>
          </p:cNvPr>
          <p:cNvSpPr txBox="1">
            <a:spLocks noGrp="1"/>
          </p:cNvSpPr>
          <p:nvPr>
            <p:ph type="sldNum" idx="12"/>
          </p:nvPr>
        </p:nvSpPr>
        <p:spPr>
          <a:xfrm>
            <a:off x="9008534" y="6273095"/>
            <a:ext cx="686152"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18</a:t>
            </a:fld>
            <a:r>
              <a:rPr lang="en-US" dirty="0"/>
              <a:t> </a:t>
            </a:r>
            <a:r>
              <a:rPr lang="en-US"/>
              <a:t>/ 28</a:t>
            </a:r>
            <a:endParaRPr dirty="0"/>
          </a:p>
        </p:txBody>
      </p:sp>
      <p:sp>
        <p:nvSpPr>
          <p:cNvPr id="2" name="Google Shape;58;p7">
            <a:extLst>
              <a:ext uri="{FF2B5EF4-FFF2-40B4-BE49-F238E27FC236}">
                <a16:creationId xmlns:a16="http://schemas.microsoft.com/office/drawing/2014/main" id="{D24E7D19-F94A-27CE-42BD-AF0544ADA28B}"/>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4098" name="Picture 2">
            <a:extLst>
              <a:ext uri="{FF2B5EF4-FFF2-40B4-BE49-F238E27FC236}">
                <a16:creationId xmlns:a16="http://schemas.microsoft.com/office/drawing/2014/main" id="{BE32F47D-BB32-C7C3-FF65-4CA8396DA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8467" y="1768314"/>
            <a:ext cx="5506218" cy="434249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84524F-0B0B-1042-E2CA-06644E990685}"/>
              </a:ext>
            </a:extLst>
          </p:cNvPr>
          <p:cNvSpPr txBox="1"/>
          <p:nvPr/>
        </p:nvSpPr>
        <p:spPr>
          <a:xfrm>
            <a:off x="714516" y="2061366"/>
            <a:ext cx="3334970" cy="317009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Scatterplot:</a:t>
            </a:r>
          </a:p>
          <a:p>
            <a:pPr>
              <a:buNone/>
            </a:pPr>
            <a:r>
              <a:rPr lang="en-US" b="1" dirty="0">
                <a:latin typeface="Times New Roman" panose="02020603050405020304" pitchFamily="18" charset="0"/>
                <a:cs typeface="Times New Roman" panose="02020603050405020304" pitchFamily="18" charset="0"/>
              </a:rPr>
              <a:t>Actual RUL vs Predicted RUL</a:t>
            </a:r>
          </a:p>
          <a:p>
            <a:pPr>
              <a:buNone/>
            </a:pPr>
            <a:r>
              <a:rPr lang="en-US" b="1" dirty="0">
                <a:latin typeface="Times New Roman" panose="02020603050405020304" pitchFamily="18" charset="0"/>
                <a:cs typeface="Times New Roman" panose="02020603050405020304" pitchFamily="18" charset="0"/>
              </a:rPr>
              <a:t>(Random Forest)</a:t>
            </a:r>
          </a:p>
          <a:p>
            <a:pPr>
              <a:buNone/>
            </a:pPr>
            <a:endParaRPr lang="en-US" dirty="0">
              <a:latin typeface="Times New Roman" panose="02020603050405020304" pitchFamily="18" charset="0"/>
              <a:cs typeface="Times New Roman" panose="02020603050405020304" pitchFamily="18" charset="0"/>
            </a:endParaRPr>
          </a:p>
          <a:p>
            <a:pPr>
              <a:buNone/>
            </a:pPr>
            <a:r>
              <a:rPr lang="en-US" sz="1600" u="sng" dirty="0">
                <a:latin typeface="Times New Roman" panose="02020603050405020304" pitchFamily="18" charset="0"/>
                <a:cs typeface="Times New Roman" panose="02020603050405020304" pitchFamily="18" charset="0"/>
              </a:rPr>
              <a:t>What it shows:</a:t>
            </a:r>
            <a:endParaRPr lang="en-US"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Points clustered around diagonal</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Improved alignment compared to baseline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Reduced spread at lower RUL</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None/>
            </a:pPr>
            <a:r>
              <a:rPr lang="en-US" sz="1600" u="sng" dirty="0">
                <a:latin typeface="Times New Roman" panose="02020603050405020304" pitchFamily="18" charset="0"/>
                <a:cs typeface="Times New Roman" panose="02020603050405020304" pitchFamily="18" charset="0"/>
              </a:rPr>
              <a:t>Label clearly:</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X-axis: Actual RUL</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Y-axis: Predicted RUL</a:t>
            </a:r>
          </a:p>
        </p:txBody>
      </p:sp>
      <p:sp>
        <p:nvSpPr>
          <p:cNvPr id="6" name="Google Shape;59;p7">
            <a:extLst>
              <a:ext uri="{FF2B5EF4-FFF2-40B4-BE49-F238E27FC236}">
                <a16:creationId xmlns:a16="http://schemas.microsoft.com/office/drawing/2014/main" id="{806817CE-7958-01E3-13A0-61351DA3FE6B}"/>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2219105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033CFE2-5FC6-985A-5D4E-3A124474881B}"/>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B8DDC589-2CC2-B029-C4D1-B40C40225162}"/>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Anomaly Detection &amp; Early Warning Analysis</a:t>
            </a:r>
          </a:p>
        </p:txBody>
      </p:sp>
      <p:sp>
        <p:nvSpPr>
          <p:cNvPr id="109" name="Google Shape;109;p12">
            <a:extLst>
              <a:ext uri="{FF2B5EF4-FFF2-40B4-BE49-F238E27FC236}">
                <a16:creationId xmlns:a16="http://schemas.microsoft.com/office/drawing/2014/main" id="{5D99348F-973D-BD4C-D26B-5A38686917C3}"/>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CF3F53D8-0777-2BF4-058B-6E32B9A2E264}"/>
              </a:ext>
            </a:extLst>
          </p:cNvPr>
          <p:cNvSpPr txBox="1">
            <a:spLocks noGrp="1"/>
          </p:cNvSpPr>
          <p:nvPr>
            <p:ph type="sldNum" idx="12"/>
          </p:nvPr>
        </p:nvSpPr>
        <p:spPr>
          <a:xfrm>
            <a:off x="9008534" y="6273095"/>
            <a:ext cx="686152"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19</a:t>
            </a:fld>
            <a:r>
              <a:rPr lang="en-US" dirty="0"/>
              <a:t> </a:t>
            </a:r>
            <a:r>
              <a:rPr lang="en-US"/>
              <a:t>/ 28</a:t>
            </a:r>
            <a:endParaRPr dirty="0"/>
          </a:p>
        </p:txBody>
      </p:sp>
      <p:sp>
        <p:nvSpPr>
          <p:cNvPr id="2" name="Google Shape;58;p7">
            <a:extLst>
              <a:ext uri="{FF2B5EF4-FFF2-40B4-BE49-F238E27FC236}">
                <a16:creationId xmlns:a16="http://schemas.microsoft.com/office/drawing/2014/main" id="{5E7B0990-8841-97D5-DDB5-F75A58493144}"/>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5" name="TextBox 4">
            <a:extLst>
              <a:ext uri="{FF2B5EF4-FFF2-40B4-BE49-F238E27FC236}">
                <a16:creationId xmlns:a16="http://schemas.microsoft.com/office/drawing/2014/main" id="{55CD7E1E-627B-AECE-F1D6-7ABFE5907025}"/>
              </a:ext>
            </a:extLst>
          </p:cNvPr>
          <p:cNvSpPr txBox="1"/>
          <p:nvPr/>
        </p:nvSpPr>
        <p:spPr>
          <a:xfrm>
            <a:off x="509508" y="1907039"/>
            <a:ext cx="4138004" cy="3539430"/>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Healthy Training Logic</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Isolation Forest trained only on healthy cycles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Healthy defined as: </a:t>
            </a:r>
            <a:r>
              <a:rPr lang="en-IN" sz="1600" b="1" dirty="0">
                <a:latin typeface="Times New Roman" panose="02020603050405020304" pitchFamily="18" charset="0"/>
                <a:cs typeface="Times New Roman" panose="02020603050405020304" pitchFamily="18" charset="0"/>
              </a:rPr>
              <a:t>RUL &gt; 100</a:t>
            </a:r>
            <a:endParaRPr lang="en-IN"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Model learns normal operational distribution</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Anomaly Monitoring</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Generated anomaly score per cycle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Lower score → higher abnormality</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Threshold-based risk classification</a:t>
            </a:r>
          </a:p>
          <a:p>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Early Warning Insight</a:t>
            </a:r>
          </a:p>
          <a:p>
            <a:r>
              <a:rPr lang="en-US" sz="1600" dirty="0">
                <a:latin typeface="Times New Roman" panose="02020603050405020304" pitchFamily="18" charset="0"/>
                <a:cs typeface="Times New Roman" panose="02020603050405020304" pitchFamily="18" charset="0"/>
              </a:rPr>
              <a:t>First anomaly detected ~40 cycles before failure</a:t>
            </a:r>
          </a:p>
          <a:p>
            <a:r>
              <a:rPr lang="en-US" sz="1600" dirty="0">
                <a:latin typeface="Times New Roman" panose="02020603050405020304" pitchFamily="18" charset="0"/>
                <a:cs typeface="Times New Roman" panose="02020603050405020304" pitchFamily="18" charset="0"/>
              </a:rPr>
              <a:t>Enables proactive maintenance planning</a:t>
            </a:r>
          </a:p>
          <a:p>
            <a:r>
              <a:rPr lang="en-US" sz="1600" dirty="0">
                <a:latin typeface="Times New Roman" panose="02020603050405020304" pitchFamily="18" charset="0"/>
                <a:cs typeface="Times New Roman" panose="02020603050405020304" pitchFamily="18" charset="0"/>
              </a:rPr>
              <a:t>Provides redundancy alongside RUL prediction</a:t>
            </a:r>
          </a:p>
        </p:txBody>
      </p:sp>
      <p:pic>
        <p:nvPicPr>
          <p:cNvPr id="5122" name="Picture 2">
            <a:extLst>
              <a:ext uri="{FF2B5EF4-FFF2-40B4-BE49-F238E27FC236}">
                <a16:creationId xmlns:a16="http://schemas.microsoft.com/office/drawing/2014/main" id="{C21248B0-BEA2-C7E9-5144-3E0B3F1CBC4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4647512" y="2077472"/>
            <a:ext cx="5368582" cy="3368997"/>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59;p7">
            <a:extLst>
              <a:ext uri="{FF2B5EF4-FFF2-40B4-BE49-F238E27FC236}">
                <a16:creationId xmlns:a16="http://schemas.microsoft.com/office/drawing/2014/main" id="{96DDBC69-AF03-69F4-8330-C6E0C28E7990}"/>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3382903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FF7C39E-78A4-744F-3943-01C096897487}"/>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6FCF142C-49D7-3DFE-1681-6BD6D260A7E3}"/>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indent="0" algn="l" rtl="0">
              <a:lnSpc>
                <a:spcPct val="100000"/>
              </a:lnSpc>
              <a:spcBef>
                <a:spcPts val="0"/>
              </a:spcBef>
              <a:spcAft>
                <a:spcPts val="0"/>
              </a:spcAft>
              <a:buNone/>
            </a:pPr>
            <a:r>
              <a:rPr lang="en-US" sz="3300" dirty="0">
                <a:latin typeface="Times New Roman"/>
                <a:cs typeface="Times New Roman"/>
                <a:sym typeface="Times New Roman"/>
              </a:rPr>
              <a:t>Weekly Work Details</a:t>
            </a:r>
            <a:endParaRPr lang="en-US" dirty="0"/>
          </a:p>
        </p:txBody>
      </p:sp>
      <p:sp>
        <p:nvSpPr>
          <p:cNvPr id="109" name="Google Shape;109;p12">
            <a:extLst>
              <a:ext uri="{FF2B5EF4-FFF2-40B4-BE49-F238E27FC236}">
                <a16:creationId xmlns:a16="http://schemas.microsoft.com/office/drawing/2014/main" id="{D7E364B7-5B50-6F8D-4F5F-C1051AADF3EE}"/>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C4A4EE0F-8760-F249-26E3-08DFC9BE32C1}"/>
              </a:ext>
            </a:extLst>
          </p:cNvPr>
          <p:cNvSpPr txBox="1">
            <a:spLocks noGrp="1"/>
          </p:cNvSpPr>
          <p:nvPr>
            <p:ph type="sldNum" idx="12"/>
          </p:nvPr>
        </p:nvSpPr>
        <p:spPr>
          <a:xfrm>
            <a:off x="9049124" y="6273095"/>
            <a:ext cx="645561"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20</a:t>
            </a:fld>
            <a:r>
              <a:rPr lang="en-US" dirty="0"/>
              <a:t> </a:t>
            </a:r>
            <a:r>
              <a:rPr lang="en-US"/>
              <a:t>/ 28</a:t>
            </a:r>
            <a:endParaRPr dirty="0"/>
          </a:p>
        </p:txBody>
      </p:sp>
      <p:sp>
        <p:nvSpPr>
          <p:cNvPr id="2" name="Google Shape;58;p7">
            <a:extLst>
              <a:ext uri="{FF2B5EF4-FFF2-40B4-BE49-F238E27FC236}">
                <a16:creationId xmlns:a16="http://schemas.microsoft.com/office/drawing/2014/main" id="{0E72CBB3-798F-9C7F-2DE6-66CD4244338E}"/>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graphicFrame>
        <p:nvGraphicFramePr>
          <p:cNvPr id="4" name="Object 3">
            <a:extLst>
              <a:ext uri="{FF2B5EF4-FFF2-40B4-BE49-F238E27FC236}">
                <a16:creationId xmlns:a16="http://schemas.microsoft.com/office/drawing/2014/main" id="{B73644D1-E40D-9535-3E50-5D66454B13FB}"/>
              </a:ext>
            </a:extLst>
          </p:cNvPr>
          <p:cNvGraphicFramePr>
            <a:graphicFrameLocks noChangeAspect="1"/>
          </p:cNvGraphicFramePr>
          <p:nvPr>
            <p:extLst>
              <p:ext uri="{D42A27DB-BD31-4B8C-83A1-F6EECF244321}">
                <p14:modId xmlns:p14="http://schemas.microsoft.com/office/powerpoint/2010/main" val="1063546216"/>
              </p:ext>
            </p:extLst>
          </p:nvPr>
        </p:nvGraphicFramePr>
        <p:xfrm>
          <a:off x="741737" y="1825171"/>
          <a:ext cx="8307387" cy="3482975"/>
        </p:xfrm>
        <a:graphic>
          <a:graphicData uri="http://schemas.openxmlformats.org/presentationml/2006/ole">
            <mc:AlternateContent xmlns:mc="http://schemas.openxmlformats.org/markup-compatibility/2006">
              <mc:Choice xmlns:v="urn:schemas-microsoft-com:vml" Requires="v">
                <p:oleObj name="Worksheet" r:id="rId3" imgW="5248335" imgH="2200216" progId="Excel.Sheet.12">
                  <p:embed/>
                </p:oleObj>
              </mc:Choice>
              <mc:Fallback>
                <p:oleObj name="Worksheet" r:id="rId3" imgW="5248335" imgH="2200216" progId="Excel.Sheet.12">
                  <p:embed/>
                  <p:pic>
                    <p:nvPicPr>
                      <p:cNvPr id="0" name=""/>
                      <p:cNvPicPr/>
                      <p:nvPr/>
                    </p:nvPicPr>
                    <p:blipFill>
                      <a:blip r:embed="rId4"/>
                      <a:stretch>
                        <a:fillRect/>
                      </a:stretch>
                    </p:blipFill>
                    <p:spPr>
                      <a:xfrm>
                        <a:off x="741737" y="1825171"/>
                        <a:ext cx="8307387" cy="3482975"/>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921E5BA5-A186-8388-0A94-A2D8D29776E7}"/>
              </a:ext>
            </a:extLst>
          </p:cNvPr>
          <p:cNvSpPr txBox="1"/>
          <p:nvPr/>
        </p:nvSpPr>
        <p:spPr>
          <a:xfrm>
            <a:off x="741737" y="5082556"/>
            <a:ext cx="5029200" cy="1077218"/>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Milestones Achieved:</a:t>
            </a: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Achieved RF RMSE ≈ 17.9</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Successfully detected anomalies ~40 cycles before failure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Deployed interactive monitoring system</a:t>
            </a:r>
          </a:p>
        </p:txBody>
      </p:sp>
      <p:sp>
        <p:nvSpPr>
          <p:cNvPr id="8" name="Google Shape;59;p7">
            <a:extLst>
              <a:ext uri="{FF2B5EF4-FFF2-40B4-BE49-F238E27FC236}">
                <a16:creationId xmlns:a16="http://schemas.microsoft.com/office/drawing/2014/main" id="{489698C7-C7C8-CE38-91AA-BFC2F41931BB}"/>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2641259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EDF2B5B-AAA0-1ABF-C973-A7A04F8F79C0}"/>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FABFFEA3-7D63-E93F-C980-9117EF5DD2CF}"/>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Results</a:t>
            </a:r>
          </a:p>
        </p:txBody>
      </p:sp>
      <p:sp>
        <p:nvSpPr>
          <p:cNvPr id="109" name="Google Shape;109;p12">
            <a:extLst>
              <a:ext uri="{FF2B5EF4-FFF2-40B4-BE49-F238E27FC236}">
                <a16:creationId xmlns:a16="http://schemas.microsoft.com/office/drawing/2014/main" id="{FBB374D0-564C-2767-5E6B-B11FB0AC6FDB}"/>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DE310AA0-6101-B745-0E43-D642C7A8A0DA}"/>
              </a:ext>
            </a:extLst>
          </p:cNvPr>
          <p:cNvSpPr txBox="1">
            <a:spLocks noGrp="1"/>
          </p:cNvSpPr>
          <p:nvPr>
            <p:ph type="sldNum" idx="12"/>
          </p:nvPr>
        </p:nvSpPr>
        <p:spPr>
          <a:xfrm>
            <a:off x="9008533" y="6273095"/>
            <a:ext cx="686153"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21</a:t>
            </a:fld>
            <a:r>
              <a:rPr lang="en-US" dirty="0"/>
              <a:t> </a:t>
            </a:r>
            <a:r>
              <a:rPr lang="en-US"/>
              <a:t>/ 28</a:t>
            </a:r>
            <a:endParaRPr dirty="0"/>
          </a:p>
        </p:txBody>
      </p:sp>
      <p:sp>
        <p:nvSpPr>
          <p:cNvPr id="2" name="Google Shape;58;p7">
            <a:extLst>
              <a:ext uri="{FF2B5EF4-FFF2-40B4-BE49-F238E27FC236}">
                <a16:creationId xmlns:a16="http://schemas.microsoft.com/office/drawing/2014/main" id="{9192655F-32BD-608D-CB69-237563EBA762}"/>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5" name="Picture 4">
            <a:extLst>
              <a:ext uri="{FF2B5EF4-FFF2-40B4-BE49-F238E27FC236}">
                <a16:creationId xmlns:a16="http://schemas.microsoft.com/office/drawing/2014/main" id="{E19BE356-165F-D32E-9F7B-2712ED4023FB}"/>
              </a:ext>
            </a:extLst>
          </p:cNvPr>
          <p:cNvPicPr>
            <a:picLocks noChangeAspect="1"/>
          </p:cNvPicPr>
          <p:nvPr/>
        </p:nvPicPr>
        <p:blipFill>
          <a:blip r:embed="rId3"/>
          <a:srcRect t="9107"/>
          <a:stretch>
            <a:fillRect/>
          </a:stretch>
        </p:blipFill>
        <p:spPr>
          <a:xfrm>
            <a:off x="829479" y="1793421"/>
            <a:ext cx="8399441" cy="4292277"/>
          </a:xfrm>
          <a:prstGeom prst="rect">
            <a:avLst/>
          </a:prstGeom>
        </p:spPr>
      </p:pic>
      <p:sp>
        <p:nvSpPr>
          <p:cNvPr id="6" name="Google Shape;59;p7">
            <a:extLst>
              <a:ext uri="{FF2B5EF4-FFF2-40B4-BE49-F238E27FC236}">
                <a16:creationId xmlns:a16="http://schemas.microsoft.com/office/drawing/2014/main" id="{63401027-CEF8-7883-52BE-766C92D744DA}"/>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426457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ACAD8-74A5-B397-24F6-5C432C45FE8B}"/>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B0D00C9D-C879-1E8C-F027-D25A9DEE6AF5}"/>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Results</a:t>
            </a:r>
          </a:p>
        </p:txBody>
      </p:sp>
      <p:sp>
        <p:nvSpPr>
          <p:cNvPr id="109" name="Google Shape;109;p12">
            <a:extLst>
              <a:ext uri="{FF2B5EF4-FFF2-40B4-BE49-F238E27FC236}">
                <a16:creationId xmlns:a16="http://schemas.microsoft.com/office/drawing/2014/main" id="{13318C96-47FB-D325-1FD4-1CBB87A20B47}"/>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CC1557D3-DB65-ABF9-3ACC-7F85432729FB}"/>
              </a:ext>
            </a:extLst>
          </p:cNvPr>
          <p:cNvSpPr txBox="1">
            <a:spLocks noGrp="1"/>
          </p:cNvSpPr>
          <p:nvPr>
            <p:ph type="sldNum" idx="12"/>
          </p:nvPr>
        </p:nvSpPr>
        <p:spPr>
          <a:xfrm>
            <a:off x="8974668" y="6273095"/>
            <a:ext cx="7200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22</a:t>
            </a:fld>
            <a:r>
              <a:rPr lang="en-US" dirty="0"/>
              <a:t> </a:t>
            </a:r>
            <a:r>
              <a:rPr lang="en-US"/>
              <a:t>/ 28</a:t>
            </a:r>
            <a:endParaRPr dirty="0"/>
          </a:p>
        </p:txBody>
      </p:sp>
      <p:sp>
        <p:nvSpPr>
          <p:cNvPr id="2" name="Google Shape;58;p7">
            <a:extLst>
              <a:ext uri="{FF2B5EF4-FFF2-40B4-BE49-F238E27FC236}">
                <a16:creationId xmlns:a16="http://schemas.microsoft.com/office/drawing/2014/main" id="{699330C3-66E5-584D-6228-D8665E09801C}"/>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4" name="Picture 3">
            <a:extLst>
              <a:ext uri="{FF2B5EF4-FFF2-40B4-BE49-F238E27FC236}">
                <a16:creationId xmlns:a16="http://schemas.microsoft.com/office/drawing/2014/main" id="{1FA62846-0A60-791F-0A58-9D6A4C97BE4A}"/>
              </a:ext>
            </a:extLst>
          </p:cNvPr>
          <p:cNvPicPr>
            <a:picLocks noChangeAspect="1"/>
          </p:cNvPicPr>
          <p:nvPr/>
        </p:nvPicPr>
        <p:blipFill>
          <a:blip r:embed="rId3"/>
          <a:srcRect t="11522"/>
          <a:stretch>
            <a:fillRect/>
          </a:stretch>
        </p:blipFill>
        <p:spPr>
          <a:xfrm>
            <a:off x="899000" y="1734382"/>
            <a:ext cx="8651399" cy="4303636"/>
          </a:xfrm>
          <a:prstGeom prst="rect">
            <a:avLst/>
          </a:prstGeom>
        </p:spPr>
      </p:pic>
      <p:sp>
        <p:nvSpPr>
          <p:cNvPr id="6" name="Google Shape;59;p7">
            <a:extLst>
              <a:ext uri="{FF2B5EF4-FFF2-40B4-BE49-F238E27FC236}">
                <a16:creationId xmlns:a16="http://schemas.microsoft.com/office/drawing/2014/main" id="{D36FD2D5-784D-8BA0-1104-8ABAB2EB0CA6}"/>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1809860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0CA7624-804B-97EF-6A78-E404151E0259}"/>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41B177F6-439C-F9E2-47A9-278E9CEC51DD}"/>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Results</a:t>
            </a:r>
          </a:p>
        </p:txBody>
      </p:sp>
      <p:sp>
        <p:nvSpPr>
          <p:cNvPr id="109" name="Google Shape;109;p12">
            <a:extLst>
              <a:ext uri="{FF2B5EF4-FFF2-40B4-BE49-F238E27FC236}">
                <a16:creationId xmlns:a16="http://schemas.microsoft.com/office/drawing/2014/main" id="{FF41E8A6-316D-8CA6-2270-93CAA00C924E}"/>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97B24D9D-4E7B-4A5B-478F-656E10874284}"/>
              </a:ext>
            </a:extLst>
          </p:cNvPr>
          <p:cNvSpPr txBox="1">
            <a:spLocks noGrp="1"/>
          </p:cNvSpPr>
          <p:nvPr>
            <p:ph type="sldNum" idx="12"/>
          </p:nvPr>
        </p:nvSpPr>
        <p:spPr>
          <a:xfrm>
            <a:off x="8991600" y="6273095"/>
            <a:ext cx="703085"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23</a:t>
            </a:fld>
            <a:r>
              <a:rPr lang="en-US" dirty="0"/>
              <a:t> </a:t>
            </a:r>
            <a:r>
              <a:rPr lang="en-US"/>
              <a:t>/ 28</a:t>
            </a:r>
            <a:endParaRPr dirty="0"/>
          </a:p>
        </p:txBody>
      </p:sp>
      <p:sp>
        <p:nvSpPr>
          <p:cNvPr id="2" name="Google Shape;58;p7">
            <a:extLst>
              <a:ext uri="{FF2B5EF4-FFF2-40B4-BE49-F238E27FC236}">
                <a16:creationId xmlns:a16="http://schemas.microsoft.com/office/drawing/2014/main" id="{62DD92F7-E5C5-7149-3F7C-14362CB754B2}"/>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4" name="Picture 3">
            <a:extLst>
              <a:ext uri="{FF2B5EF4-FFF2-40B4-BE49-F238E27FC236}">
                <a16:creationId xmlns:a16="http://schemas.microsoft.com/office/drawing/2014/main" id="{6C22F6E7-2E8D-CADC-41AF-A7E931738B3E}"/>
              </a:ext>
            </a:extLst>
          </p:cNvPr>
          <p:cNvPicPr>
            <a:picLocks noChangeAspect="1"/>
          </p:cNvPicPr>
          <p:nvPr/>
        </p:nvPicPr>
        <p:blipFill>
          <a:blip r:embed="rId3"/>
          <a:srcRect t="17810"/>
          <a:stretch>
            <a:fillRect/>
          </a:stretch>
        </p:blipFill>
        <p:spPr>
          <a:xfrm>
            <a:off x="616698" y="1871780"/>
            <a:ext cx="8949702" cy="4135560"/>
          </a:xfrm>
          <a:prstGeom prst="rect">
            <a:avLst/>
          </a:prstGeom>
        </p:spPr>
      </p:pic>
      <p:sp>
        <p:nvSpPr>
          <p:cNvPr id="6" name="Google Shape;59;p7">
            <a:extLst>
              <a:ext uri="{FF2B5EF4-FFF2-40B4-BE49-F238E27FC236}">
                <a16:creationId xmlns:a16="http://schemas.microsoft.com/office/drawing/2014/main" id="{24E1E5BD-1BFF-85EA-573B-F2B1B66E5463}"/>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3220016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84A0EAB-2A85-8FF8-2E95-12371E69108A}"/>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FF4245AA-D888-338C-241E-26F0FC7D84C6}"/>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Results</a:t>
            </a:r>
          </a:p>
        </p:txBody>
      </p:sp>
      <p:sp>
        <p:nvSpPr>
          <p:cNvPr id="109" name="Google Shape;109;p12">
            <a:extLst>
              <a:ext uri="{FF2B5EF4-FFF2-40B4-BE49-F238E27FC236}">
                <a16:creationId xmlns:a16="http://schemas.microsoft.com/office/drawing/2014/main" id="{0F02256D-8735-BF4A-9528-67DCAE16F044}"/>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990BBD27-5063-7E4A-98EF-DE4DD1CC9D67}"/>
              </a:ext>
            </a:extLst>
          </p:cNvPr>
          <p:cNvSpPr txBox="1">
            <a:spLocks noGrp="1"/>
          </p:cNvSpPr>
          <p:nvPr>
            <p:ph type="sldNum" idx="12"/>
          </p:nvPr>
        </p:nvSpPr>
        <p:spPr>
          <a:xfrm>
            <a:off x="9025468" y="6273095"/>
            <a:ext cx="6692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24</a:t>
            </a:fld>
            <a:r>
              <a:rPr lang="en-US" dirty="0"/>
              <a:t> </a:t>
            </a:r>
            <a:r>
              <a:rPr lang="en-US"/>
              <a:t>/ 28</a:t>
            </a:r>
            <a:endParaRPr dirty="0"/>
          </a:p>
        </p:txBody>
      </p:sp>
      <p:sp>
        <p:nvSpPr>
          <p:cNvPr id="2" name="Google Shape;58;p7">
            <a:extLst>
              <a:ext uri="{FF2B5EF4-FFF2-40B4-BE49-F238E27FC236}">
                <a16:creationId xmlns:a16="http://schemas.microsoft.com/office/drawing/2014/main" id="{0D42BF84-B24A-4580-1749-57C095E8DEAD}"/>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pic>
        <p:nvPicPr>
          <p:cNvPr id="4" name="Picture 3">
            <a:extLst>
              <a:ext uri="{FF2B5EF4-FFF2-40B4-BE49-F238E27FC236}">
                <a16:creationId xmlns:a16="http://schemas.microsoft.com/office/drawing/2014/main" id="{D060340D-6E8D-93EB-4D01-1B457AED92C4}"/>
              </a:ext>
            </a:extLst>
          </p:cNvPr>
          <p:cNvPicPr>
            <a:picLocks noChangeAspect="1"/>
          </p:cNvPicPr>
          <p:nvPr/>
        </p:nvPicPr>
        <p:blipFill>
          <a:blip r:embed="rId3"/>
          <a:srcRect t="17810"/>
          <a:stretch>
            <a:fillRect/>
          </a:stretch>
        </p:blipFill>
        <p:spPr>
          <a:xfrm>
            <a:off x="741737" y="1779938"/>
            <a:ext cx="9116260" cy="4212524"/>
          </a:xfrm>
          <a:prstGeom prst="rect">
            <a:avLst/>
          </a:prstGeom>
        </p:spPr>
      </p:pic>
      <p:sp>
        <p:nvSpPr>
          <p:cNvPr id="6" name="Google Shape;59;p7">
            <a:extLst>
              <a:ext uri="{FF2B5EF4-FFF2-40B4-BE49-F238E27FC236}">
                <a16:creationId xmlns:a16="http://schemas.microsoft.com/office/drawing/2014/main" id="{096F8090-7FE4-9A04-1445-129F61B0D28E}"/>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3435974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090200C-5EC2-DDF3-F6FE-553B9AB0F56B}"/>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7BF14FE4-6201-D2ED-D7B9-F84FEA9B1A72}"/>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Conclusion</a:t>
            </a:r>
          </a:p>
        </p:txBody>
      </p:sp>
      <p:sp>
        <p:nvSpPr>
          <p:cNvPr id="109" name="Google Shape;109;p12">
            <a:extLst>
              <a:ext uri="{FF2B5EF4-FFF2-40B4-BE49-F238E27FC236}">
                <a16:creationId xmlns:a16="http://schemas.microsoft.com/office/drawing/2014/main" id="{7D6287FF-E8CD-EF5B-4E6F-089A1DB011DD}"/>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8C6E6DDD-5CD0-DF64-986E-8321F7A8EA0C}"/>
              </a:ext>
            </a:extLst>
          </p:cNvPr>
          <p:cNvSpPr txBox="1">
            <a:spLocks noGrp="1"/>
          </p:cNvSpPr>
          <p:nvPr>
            <p:ph type="sldNum" idx="12"/>
          </p:nvPr>
        </p:nvSpPr>
        <p:spPr>
          <a:xfrm>
            <a:off x="9059780" y="6273095"/>
            <a:ext cx="634906"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25</a:t>
            </a:fld>
            <a:r>
              <a:rPr lang="en-US" dirty="0"/>
              <a:t> </a:t>
            </a:r>
            <a:r>
              <a:rPr lang="en-US"/>
              <a:t>/ 28</a:t>
            </a:r>
            <a:endParaRPr dirty="0"/>
          </a:p>
        </p:txBody>
      </p:sp>
      <p:sp>
        <p:nvSpPr>
          <p:cNvPr id="2" name="Google Shape;58;p7">
            <a:extLst>
              <a:ext uri="{FF2B5EF4-FFF2-40B4-BE49-F238E27FC236}">
                <a16:creationId xmlns:a16="http://schemas.microsoft.com/office/drawing/2014/main" id="{34F05207-F4AA-AD32-24E8-0A53A25FBEFB}"/>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4" name="TextBox 3">
            <a:extLst>
              <a:ext uri="{FF2B5EF4-FFF2-40B4-BE49-F238E27FC236}">
                <a16:creationId xmlns:a16="http://schemas.microsoft.com/office/drawing/2014/main" id="{5AEB18C2-528A-E26F-259C-1DC3FF458229}"/>
              </a:ext>
            </a:extLst>
          </p:cNvPr>
          <p:cNvSpPr txBox="1"/>
          <p:nvPr/>
        </p:nvSpPr>
        <p:spPr>
          <a:xfrm>
            <a:off x="741737" y="2004265"/>
            <a:ext cx="8409135"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This project successfully developed an end-to-end AI-based predictive maintenance system, achieving strong RUL prediction performance with a Random Forest RMSE of approximately 17.9 and detecting early failure patterns nearly 40 cycles before breakdown. By combining supervised and unsupervised learning models, the system delivers robust and comprehensive equipment monitoring, further demonstrated through a fully interactive real-time dashboard deployment.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5374F91-999B-CDF6-CA0E-7892855A7C3C}"/>
              </a:ext>
            </a:extLst>
          </p:cNvPr>
          <p:cNvSpPr txBox="1"/>
          <p:nvPr/>
        </p:nvSpPr>
        <p:spPr>
          <a:xfrm>
            <a:off x="741737" y="4358426"/>
            <a:ext cx="8318042" cy="646331"/>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This system enables data-driven maintenance decisions instead of reactive repair strategies.</a:t>
            </a:r>
            <a:endParaRPr lang="en-IN" sz="1800" b="1" dirty="0">
              <a:latin typeface="Times New Roman" panose="02020603050405020304" pitchFamily="18" charset="0"/>
              <a:cs typeface="Times New Roman" panose="02020603050405020304" pitchFamily="18" charset="0"/>
            </a:endParaRPr>
          </a:p>
        </p:txBody>
      </p:sp>
      <p:sp>
        <p:nvSpPr>
          <p:cNvPr id="3" name="Google Shape;59;p7">
            <a:extLst>
              <a:ext uri="{FF2B5EF4-FFF2-40B4-BE49-F238E27FC236}">
                <a16:creationId xmlns:a16="http://schemas.microsoft.com/office/drawing/2014/main" id="{B7A63116-E234-17C9-FC17-AF90D429DB12}"/>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310253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A59BA55-1E85-292E-E373-4DA90B602420}"/>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95B97322-237D-E94F-D306-09A7879A3B89}"/>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Future Scope</a:t>
            </a:r>
          </a:p>
        </p:txBody>
      </p:sp>
      <p:sp>
        <p:nvSpPr>
          <p:cNvPr id="109" name="Google Shape;109;p12">
            <a:extLst>
              <a:ext uri="{FF2B5EF4-FFF2-40B4-BE49-F238E27FC236}">
                <a16:creationId xmlns:a16="http://schemas.microsoft.com/office/drawing/2014/main" id="{58922B66-E80A-F948-D8EA-2F26FB35B50E}"/>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9D9C6F5F-90E0-69DE-2666-A2A2D593B0A1}"/>
              </a:ext>
            </a:extLst>
          </p:cNvPr>
          <p:cNvSpPr txBox="1">
            <a:spLocks noGrp="1"/>
          </p:cNvSpPr>
          <p:nvPr>
            <p:ph type="sldNum" idx="12"/>
          </p:nvPr>
        </p:nvSpPr>
        <p:spPr>
          <a:xfrm>
            <a:off x="9025468" y="6273095"/>
            <a:ext cx="6692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26</a:t>
            </a:fld>
            <a:r>
              <a:rPr lang="en-US" dirty="0"/>
              <a:t> </a:t>
            </a:r>
            <a:r>
              <a:rPr lang="en-US"/>
              <a:t>/ 28</a:t>
            </a:r>
            <a:endParaRPr dirty="0"/>
          </a:p>
        </p:txBody>
      </p:sp>
      <p:sp>
        <p:nvSpPr>
          <p:cNvPr id="2" name="Google Shape;58;p7">
            <a:extLst>
              <a:ext uri="{FF2B5EF4-FFF2-40B4-BE49-F238E27FC236}">
                <a16:creationId xmlns:a16="http://schemas.microsoft.com/office/drawing/2014/main" id="{88829247-C890-EA63-7937-9A71C47E69C6}"/>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4" name="TextBox 3">
            <a:extLst>
              <a:ext uri="{FF2B5EF4-FFF2-40B4-BE49-F238E27FC236}">
                <a16:creationId xmlns:a16="http://schemas.microsoft.com/office/drawing/2014/main" id="{C1798FFA-16B4-770D-F318-0AAEB14B478A}"/>
              </a:ext>
            </a:extLst>
          </p:cNvPr>
          <p:cNvSpPr txBox="1"/>
          <p:nvPr/>
        </p:nvSpPr>
        <p:spPr>
          <a:xfrm>
            <a:off x="741737" y="2004265"/>
            <a:ext cx="8409135" cy="2246769"/>
          </a:xfrm>
          <a:prstGeom prst="rect">
            <a:avLst/>
          </a:prstGeom>
          <a:noFill/>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Integration with real-time IoT sensor streams.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Implementation of deep learning models (LSTM / GRU) for sequence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Integration with ERP / CMMS systems for automated maintenance scheduling.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Cloud-based deployment for scalable industrial monitoring.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Adaptive threshold learning for dynamic anomaly detection.</a:t>
            </a:r>
          </a:p>
        </p:txBody>
      </p:sp>
      <p:sp>
        <p:nvSpPr>
          <p:cNvPr id="5" name="TextBox 4">
            <a:extLst>
              <a:ext uri="{FF2B5EF4-FFF2-40B4-BE49-F238E27FC236}">
                <a16:creationId xmlns:a16="http://schemas.microsoft.com/office/drawing/2014/main" id="{CCA8F6CE-68CB-07FA-2AF3-946538AB9511}"/>
              </a:ext>
            </a:extLst>
          </p:cNvPr>
          <p:cNvSpPr txBox="1"/>
          <p:nvPr/>
        </p:nvSpPr>
        <p:spPr>
          <a:xfrm>
            <a:off x="741737" y="4399918"/>
            <a:ext cx="8409134" cy="707886"/>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The framework can evolve into a full-scale industrial asset health management platform.</a:t>
            </a:r>
            <a:endParaRPr lang="en-IN" sz="2000" b="1" dirty="0">
              <a:latin typeface="Times New Roman" panose="02020603050405020304" pitchFamily="18" charset="0"/>
              <a:cs typeface="Times New Roman" panose="02020603050405020304" pitchFamily="18" charset="0"/>
            </a:endParaRPr>
          </a:p>
        </p:txBody>
      </p:sp>
      <p:sp>
        <p:nvSpPr>
          <p:cNvPr id="6" name="Google Shape;59;p7">
            <a:extLst>
              <a:ext uri="{FF2B5EF4-FFF2-40B4-BE49-F238E27FC236}">
                <a16:creationId xmlns:a16="http://schemas.microsoft.com/office/drawing/2014/main" id="{34D27117-677D-3886-2146-3888E283979E}"/>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2557904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A887CA2-4529-71C3-AC61-BEFCC1386009}"/>
            </a:ext>
          </a:extLst>
        </p:cNvPr>
        <p:cNvGrpSpPr/>
        <p:nvPr/>
      </p:nvGrpSpPr>
      <p:grpSpPr>
        <a:xfrm>
          <a:off x="0" y="0"/>
          <a:ext cx="0" cy="0"/>
          <a:chOff x="0" y="0"/>
          <a:chExt cx="0" cy="0"/>
        </a:xfrm>
      </p:grpSpPr>
      <p:sp>
        <p:nvSpPr>
          <p:cNvPr id="108" name="Google Shape;108;p12">
            <a:extLst>
              <a:ext uri="{FF2B5EF4-FFF2-40B4-BE49-F238E27FC236}">
                <a16:creationId xmlns:a16="http://schemas.microsoft.com/office/drawing/2014/main" id="{33C91F1F-B32B-FA26-9C5D-C1AB35FF8E25}"/>
              </a:ext>
            </a:extLst>
          </p:cNvPr>
          <p:cNvSpPr txBox="1">
            <a:spLocks noGrp="1"/>
          </p:cNvSpPr>
          <p:nvPr>
            <p:ph type="title"/>
          </p:nvPr>
        </p:nvSpPr>
        <p:spPr>
          <a:xfrm>
            <a:off x="741737" y="1053052"/>
            <a:ext cx="8574926" cy="520655"/>
          </a:xfrm>
          <a:prstGeom prst="rect">
            <a:avLst/>
          </a:prstGeom>
          <a:noFill/>
          <a:ln>
            <a:noFill/>
          </a:ln>
        </p:spPr>
        <p:txBody>
          <a:bodyPr spcFirstLastPara="1" wrap="square" lIns="0" tIns="12700" rIns="0" bIns="0" anchor="t" anchorCtr="0">
            <a:spAutoFit/>
          </a:bodyPr>
          <a:lstStyle/>
          <a:p>
            <a:pPr marL="12065" lvl="0"/>
            <a:r>
              <a:rPr lang="en-US" sz="3300" dirty="0">
                <a:latin typeface="Times New Roman" panose="02020603050405020304" pitchFamily="18" charset="0"/>
                <a:cs typeface="Times New Roman" panose="02020603050405020304" pitchFamily="18" charset="0"/>
              </a:rPr>
              <a:t>Research and References</a:t>
            </a:r>
          </a:p>
        </p:txBody>
      </p:sp>
      <p:sp>
        <p:nvSpPr>
          <p:cNvPr id="109" name="Google Shape;109;p12">
            <a:extLst>
              <a:ext uri="{FF2B5EF4-FFF2-40B4-BE49-F238E27FC236}">
                <a16:creationId xmlns:a16="http://schemas.microsoft.com/office/drawing/2014/main" id="{2895AEE1-B4BE-1EBA-9E1A-9AD0F6A17C57}"/>
              </a:ext>
            </a:extLst>
          </p:cNvPr>
          <p:cNvSpPr txBox="1"/>
          <p:nvPr/>
        </p:nvSpPr>
        <p:spPr>
          <a:xfrm>
            <a:off x="616698" y="6273095"/>
            <a:ext cx="2369185" cy="234950"/>
          </a:xfrm>
          <a:prstGeom prst="rect">
            <a:avLst/>
          </a:prstGeom>
          <a:noFill/>
          <a:ln>
            <a:noFill/>
          </a:ln>
        </p:spPr>
        <p:txBody>
          <a:bodyPr spcFirstLastPara="1" wrap="square" lIns="0" tIns="0" rIns="0" bIns="0" anchor="t" anchorCtr="0">
            <a:spAutoFit/>
          </a:bodyPr>
          <a:lstStyle/>
          <a:p>
            <a:pPr marL="12700" lvl="0" indent="0" algn="l" rtl="0">
              <a:lnSpc>
                <a:spcPct val="118206"/>
              </a:lnSpc>
              <a:spcBef>
                <a:spcPts val="0"/>
              </a:spcBef>
              <a:spcAft>
                <a:spcPts val="0"/>
              </a:spcAft>
              <a:buNone/>
            </a:pPr>
            <a:r>
              <a:rPr lang="en-US" sz="1450">
                <a:solidFill>
                  <a:srgbClr val="FFFFFF"/>
                </a:solidFill>
                <a:latin typeface="Times New Roman"/>
                <a:ea typeface="Times New Roman"/>
                <a:cs typeface="Times New Roman"/>
                <a:sym typeface="Times New Roman"/>
              </a:rPr>
              <a:t>Dept of Computer Engineering</a:t>
            </a:r>
            <a:endParaRPr sz="1450">
              <a:latin typeface="Times New Roman"/>
              <a:ea typeface="Times New Roman"/>
              <a:cs typeface="Times New Roman"/>
              <a:sym typeface="Times New Roman"/>
            </a:endParaRPr>
          </a:p>
        </p:txBody>
      </p:sp>
      <p:sp>
        <p:nvSpPr>
          <p:cNvPr id="111" name="Google Shape;111;p12">
            <a:extLst>
              <a:ext uri="{FF2B5EF4-FFF2-40B4-BE49-F238E27FC236}">
                <a16:creationId xmlns:a16="http://schemas.microsoft.com/office/drawing/2014/main" id="{4A88EB84-3914-B031-C4C1-F057A465B71A}"/>
              </a:ext>
            </a:extLst>
          </p:cNvPr>
          <p:cNvSpPr txBox="1">
            <a:spLocks noGrp="1"/>
          </p:cNvSpPr>
          <p:nvPr>
            <p:ph type="sldNum" idx="12"/>
          </p:nvPr>
        </p:nvSpPr>
        <p:spPr>
          <a:xfrm>
            <a:off x="8923868" y="6273095"/>
            <a:ext cx="770818" cy="272254"/>
          </a:xfrm>
          <a:prstGeom prst="rect">
            <a:avLst/>
          </a:prstGeom>
          <a:noFill/>
          <a:ln>
            <a:noFill/>
          </a:ln>
        </p:spPr>
        <p:txBody>
          <a:bodyPr spcFirstLastPara="1" wrap="square" lIns="0" tIns="0" rIns="0" bIns="0" anchor="t" anchorCtr="0">
            <a:spAutoFit/>
          </a:bodyPr>
          <a:lstStyle/>
          <a:p>
            <a:pPr marL="59689" lvl="0" indent="0" algn="l" rtl="0">
              <a:lnSpc>
                <a:spcPct val="122428"/>
              </a:lnSpc>
              <a:spcBef>
                <a:spcPts val="0"/>
              </a:spcBef>
              <a:spcAft>
                <a:spcPts val="0"/>
              </a:spcAft>
              <a:buNone/>
            </a:pPr>
            <a:fld id="{00000000-1234-1234-1234-123412341234}" type="slidenum">
              <a:rPr lang="en-US"/>
              <a:t>27</a:t>
            </a:fld>
            <a:r>
              <a:rPr lang="en-US" dirty="0"/>
              <a:t> </a:t>
            </a:r>
            <a:r>
              <a:rPr lang="en-US"/>
              <a:t>/ 28</a:t>
            </a:r>
            <a:endParaRPr dirty="0"/>
          </a:p>
        </p:txBody>
      </p:sp>
      <p:sp>
        <p:nvSpPr>
          <p:cNvPr id="2" name="Google Shape;58;p7">
            <a:extLst>
              <a:ext uri="{FF2B5EF4-FFF2-40B4-BE49-F238E27FC236}">
                <a16:creationId xmlns:a16="http://schemas.microsoft.com/office/drawing/2014/main" id="{C1725675-7452-EB67-170C-7A2525906783}"/>
              </a:ext>
            </a:extLst>
          </p:cNvPr>
          <p:cNvSpPr txBox="1">
            <a:spLocks noGrp="1"/>
          </p:cNvSpPr>
          <p:nvPr>
            <p:ph type="dt" idx="10"/>
          </p:nvPr>
        </p:nvSpPr>
        <p:spPr>
          <a:xfrm>
            <a:off x="3499750" y="6305413"/>
            <a:ext cx="3059400" cy="234680"/>
          </a:xfrm>
          <a:prstGeom prst="rect">
            <a:avLst/>
          </a:prstGeom>
          <a:noFill/>
          <a:ln>
            <a:noFill/>
          </a:ln>
        </p:spPr>
        <p:txBody>
          <a:bodyPr spcFirstLastPara="1" wrap="square" lIns="0" tIns="0" rIns="0" bIns="0" anchor="t" anchorCtr="0">
            <a:spAutoFit/>
          </a:bodyPr>
          <a:lstStyle/>
          <a:p>
            <a:pPr marL="12700" lvl="0" indent="0" algn="ctr" rtl="0">
              <a:lnSpc>
                <a:spcPct val="122428"/>
              </a:lnSpc>
              <a:spcBef>
                <a:spcPts val="0"/>
              </a:spcBef>
              <a:spcAft>
                <a:spcPts val="0"/>
              </a:spcAft>
              <a:buNone/>
            </a:pPr>
            <a:r>
              <a:rPr lang="en-US" sz="1250" dirty="0"/>
              <a:t>AI-Driven Predictive Maintenance System</a:t>
            </a:r>
            <a:endParaRPr sz="1250" dirty="0"/>
          </a:p>
        </p:txBody>
      </p:sp>
      <p:sp>
        <p:nvSpPr>
          <p:cNvPr id="6" name="TextBox 5">
            <a:extLst>
              <a:ext uri="{FF2B5EF4-FFF2-40B4-BE49-F238E27FC236}">
                <a16:creationId xmlns:a16="http://schemas.microsoft.com/office/drawing/2014/main" id="{920BC0A0-AC05-19DB-62E1-97B41DBC0AEE}"/>
              </a:ext>
            </a:extLst>
          </p:cNvPr>
          <p:cNvSpPr txBox="1"/>
          <p:nvPr/>
        </p:nvSpPr>
        <p:spPr>
          <a:xfrm>
            <a:off x="741737" y="1913021"/>
            <a:ext cx="8409135" cy="3693319"/>
          </a:xfrm>
          <a:prstGeom prst="rect">
            <a:avLst/>
          </a:prstGeom>
          <a:noFill/>
        </p:spPr>
        <p:txBody>
          <a:bodyPr wrap="square" rtlCol="0">
            <a:spAutoFit/>
          </a:bodyPr>
          <a:lstStyle/>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Saxena &amp; K. Goebel, “NASA Turbofan Engine Degradation Simulation Data Set,” NASA Prognostics Data Repository.</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S. M. Elsherif, “Deep Learning Prognostic Strategy for Remaining Useful Life”, Scientific Reports, 2025.</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A. </a:t>
            </a:r>
            <a:r>
              <a:rPr lang="en-IN" sz="1800" dirty="0" err="1">
                <a:latin typeface="Times New Roman" panose="02020603050405020304" pitchFamily="18" charset="0"/>
                <a:cs typeface="Times New Roman" panose="02020603050405020304" pitchFamily="18" charset="0"/>
              </a:rPr>
              <a:t>Motrani</a:t>
            </a:r>
            <a:r>
              <a:rPr lang="en-IN" sz="1800" dirty="0">
                <a:latin typeface="Times New Roman" panose="02020603050405020304" pitchFamily="18" charset="0"/>
                <a:cs typeface="Times New Roman" panose="02020603050405020304" pitchFamily="18" charset="0"/>
              </a:rPr>
              <a:t> et al., Predictive Maintenance: A Machine Learning Approach to RUL, ICIMPE 2024.</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K. </a:t>
            </a:r>
            <a:r>
              <a:rPr lang="en-IN" sz="1800" dirty="0" err="1">
                <a:latin typeface="Times New Roman" panose="02020603050405020304" pitchFamily="18" charset="0"/>
                <a:cs typeface="Times New Roman" panose="02020603050405020304" pitchFamily="18" charset="0"/>
              </a:rPr>
              <a:t>Ensarioğlu</a:t>
            </a:r>
            <a:r>
              <a:rPr lang="en-IN" sz="1800" dirty="0">
                <a:latin typeface="Times New Roman" panose="02020603050405020304" pitchFamily="18" charset="0"/>
                <a:cs typeface="Times New Roman" panose="02020603050405020304" pitchFamily="18" charset="0"/>
              </a:rPr>
              <a:t> et al., Deep Learning–Based RUL Estimation of Turbofan Engines, MDPI Applied Sciences, 2023.</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“Isolation Forest,” </a:t>
            </a:r>
            <a:r>
              <a:rPr lang="en-IN" sz="1800" dirty="0" err="1">
                <a:latin typeface="Times New Roman" panose="02020603050405020304" pitchFamily="18" charset="0"/>
                <a:cs typeface="Times New Roman" panose="02020603050405020304" pitchFamily="18" charset="0"/>
              </a:rPr>
              <a:t>Wikipedia.M</a:t>
            </a:r>
            <a:r>
              <a:rPr lang="en-IN" sz="1800" dirty="0">
                <a:latin typeface="Times New Roman" panose="02020603050405020304" pitchFamily="18" charset="0"/>
                <a:cs typeface="Times New Roman" panose="02020603050405020304" pitchFamily="18" charset="0"/>
              </a:rPr>
              <a:t>. L. Ndao, Machine Learning Preprocessing &amp; Explainability Impact, 2025.</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B. </a:t>
            </a:r>
            <a:r>
              <a:rPr lang="en-IN" sz="1800" dirty="0" err="1">
                <a:latin typeface="Times New Roman" panose="02020603050405020304" pitchFamily="18" charset="0"/>
                <a:cs typeface="Times New Roman" panose="02020603050405020304" pitchFamily="18" charset="0"/>
              </a:rPr>
              <a:t>Taşcı</a:t>
            </a:r>
            <a:r>
              <a:rPr lang="en-IN" sz="1800" dirty="0">
                <a:latin typeface="Times New Roman" panose="02020603050405020304" pitchFamily="18" charset="0"/>
                <a:cs typeface="Times New Roman" panose="02020603050405020304" pitchFamily="18" charset="0"/>
              </a:rPr>
              <a:t> et al., RUL Prediction in Manufacturing Using ML Models, 2025.</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NASA CMAPSS Dataset </a:t>
            </a:r>
            <a:r>
              <a:rPr lang="en-IN" sz="1800" dirty="0" err="1">
                <a:latin typeface="Times New Roman" panose="02020603050405020304" pitchFamily="18" charset="0"/>
                <a:cs typeface="Times New Roman" panose="02020603050405020304" pitchFamily="18" charset="0"/>
              </a:rPr>
              <a:t>Description.Isolation</a:t>
            </a:r>
            <a:r>
              <a:rPr lang="en-IN" sz="1800" dirty="0">
                <a:latin typeface="Times New Roman" panose="02020603050405020304" pitchFamily="18" charset="0"/>
                <a:cs typeface="Times New Roman" panose="02020603050405020304" pitchFamily="18" charset="0"/>
              </a:rPr>
              <a:t> Forest Survey – IEEE (various authors), 2025.</a:t>
            </a:r>
          </a:p>
        </p:txBody>
      </p:sp>
      <p:sp>
        <p:nvSpPr>
          <p:cNvPr id="7" name="Google Shape;59;p7">
            <a:extLst>
              <a:ext uri="{FF2B5EF4-FFF2-40B4-BE49-F238E27FC236}">
                <a16:creationId xmlns:a16="http://schemas.microsoft.com/office/drawing/2014/main" id="{3C0733C8-39EB-0539-8706-1706D06A7715}"/>
              </a:ext>
            </a:extLst>
          </p:cNvPr>
          <p:cNvSpPr txBox="1">
            <a:spLocks noGrp="1"/>
          </p:cNvSpPr>
          <p:nvPr>
            <p:ph type="ftr" idx="11"/>
          </p:nvPr>
        </p:nvSpPr>
        <p:spPr>
          <a:xfrm>
            <a:off x="6651841" y="6266870"/>
            <a:ext cx="2498400" cy="272254"/>
          </a:xfrm>
          <a:prstGeom prst="rect">
            <a:avLst/>
          </a:prstGeom>
          <a:noFill/>
          <a:ln>
            <a:noFill/>
          </a:ln>
        </p:spPr>
        <p:txBody>
          <a:bodyPr spcFirstLastPara="1" wrap="square" lIns="0" tIns="0" rIns="0" bIns="0" anchor="t" anchorCtr="0">
            <a:spAutoFit/>
          </a:bodyPr>
          <a:lstStyle/>
          <a:p>
            <a:pPr marL="12700" lvl="0" indent="0" algn="l" rtl="0">
              <a:lnSpc>
                <a:spcPct val="122428"/>
              </a:lnSpc>
              <a:spcBef>
                <a:spcPts val="0"/>
              </a:spcBef>
              <a:spcAft>
                <a:spcPts val="0"/>
              </a:spcAft>
              <a:buNone/>
            </a:pPr>
            <a:r>
              <a:rPr lang="en-US" dirty="0"/>
              <a:t>25-February-2026</a:t>
            </a:r>
            <a:endParaRPr dirty="0"/>
          </a:p>
        </p:txBody>
      </p:sp>
    </p:spTree>
    <p:extLst>
      <p:ext uri="{BB962C8B-B14F-4D97-AF65-F5344CB8AC3E}">
        <p14:creationId xmlns:p14="http://schemas.microsoft.com/office/powerpoint/2010/main" val="3782994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pic>
        <p:nvPicPr>
          <p:cNvPr id="3" name="Picture 2">
            <a:extLst>
              <a:ext uri="{FF2B5EF4-FFF2-40B4-BE49-F238E27FC236}">
                <a16:creationId xmlns:a16="http://schemas.microsoft.com/office/drawing/2014/main" id="{5E1D0135-7113-59B6-A188-B3811C472222}"/>
              </a:ext>
            </a:extLst>
          </p:cNvPr>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 uri="{837473B0-CC2E-450A-ABE3-18F120FF3D39}">
                <a1611:picAttrSrcUrl xmlns:a1611="http://schemas.microsoft.com/office/drawing/2016/11/main" r:id="rId5"/>
              </a:ext>
            </a:extLst>
          </a:blip>
          <a:srcRect l="20915" r="14380"/>
          <a:stretch>
            <a:fillRect/>
          </a:stretch>
        </p:blipFill>
        <p:spPr>
          <a:xfrm>
            <a:off x="0" y="-2"/>
            <a:ext cx="10058400" cy="77724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1549</Words>
  <Application>Microsoft Office PowerPoint</Application>
  <PresentationFormat>Custom</PresentationFormat>
  <Paragraphs>311</Paragraphs>
  <Slides>28</Slides>
  <Notes>28</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3" baseType="lpstr">
      <vt:lpstr>Arial</vt:lpstr>
      <vt:lpstr>Calibri</vt:lpstr>
      <vt:lpstr>Times New Roman</vt:lpstr>
      <vt:lpstr>Office Theme</vt:lpstr>
      <vt:lpstr>Microsoft Excel Worksheet</vt:lpstr>
      <vt:lpstr>AI-Driven Predictive Maintenance System for Industrial Equipment</vt:lpstr>
      <vt:lpstr>Outline</vt:lpstr>
      <vt:lpstr>Internship Completion Certificate</vt:lpstr>
      <vt:lpstr>Introduction</vt:lpstr>
      <vt:lpstr>Introduction</vt:lpstr>
      <vt:lpstr>Problem Statement</vt:lpstr>
      <vt:lpstr>Objectives</vt:lpstr>
      <vt:lpstr>Scope</vt:lpstr>
      <vt:lpstr>Project Limitations</vt:lpstr>
      <vt:lpstr>Dataset Description</vt:lpstr>
      <vt:lpstr>Dataset Description</vt:lpstr>
      <vt:lpstr>Dataset Description</vt:lpstr>
      <vt:lpstr>Technological Details</vt:lpstr>
      <vt:lpstr>Methodology</vt:lpstr>
      <vt:lpstr>System Architecture</vt:lpstr>
      <vt:lpstr>Feature Engineering Strategy</vt:lpstr>
      <vt:lpstr>Model Performance and Evaluation</vt:lpstr>
      <vt:lpstr>Model Performance and Evaluation</vt:lpstr>
      <vt:lpstr>Anomaly Detection &amp; Early Warning Analysis</vt:lpstr>
      <vt:lpstr>Weekly Work Details</vt:lpstr>
      <vt:lpstr>Results</vt:lpstr>
      <vt:lpstr>Results</vt:lpstr>
      <vt:lpstr>Results</vt:lpstr>
      <vt:lpstr>Results</vt:lpstr>
      <vt:lpstr>Conclusion</vt:lpstr>
      <vt:lpstr>Future Scope</vt:lpstr>
      <vt:lpstr>Research and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 Porje</dc:creator>
  <cp:lastModifiedBy>Vedant Porje</cp:lastModifiedBy>
  <cp:revision>1</cp:revision>
  <dcterms:modified xsi:type="dcterms:W3CDTF">2026-02-25T07:50:59Z</dcterms:modified>
</cp:coreProperties>
</file>